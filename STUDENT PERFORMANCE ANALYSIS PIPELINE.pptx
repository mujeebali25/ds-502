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" charset="1" panose="00000500000000000000"/>
      <p:regular r:id="rId21"/>
    </p:embeddedFont>
    <p:embeddedFont>
      <p:font typeface="Codec Pro" charset="1" panose="00000500000000000000"/>
      <p:regular r:id="rId22"/>
    </p:embeddedFont>
    <p:embeddedFont>
      <p:font typeface="Codec Pro Bold" charset="1" panose="00000600000000000000"/>
      <p:regular r:id="rId23"/>
    </p:embeddedFont>
    <p:embeddedFont>
      <p:font typeface="Poppins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18.png" Type="http://schemas.openxmlformats.org/officeDocument/2006/relationships/image"/><Relationship Id="rId15" Target="../media/image19.svg" Type="http://schemas.openxmlformats.org/officeDocument/2006/relationships/image"/><Relationship Id="rId16" Target="../media/image20.png" Type="http://schemas.openxmlformats.org/officeDocument/2006/relationships/image"/><Relationship Id="rId17" Target="../media/image21.svg" Type="http://schemas.openxmlformats.org/officeDocument/2006/relationships/image"/><Relationship Id="rId18" Target="../media/image22.png" Type="http://schemas.openxmlformats.org/officeDocument/2006/relationships/image"/><Relationship Id="rId19" Target="../media/image23.svg" Type="http://schemas.openxmlformats.org/officeDocument/2006/relationships/image"/><Relationship Id="rId2" Target="../media/image6.png" Type="http://schemas.openxmlformats.org/officeDocument/2006/relationships/image"/><Relationship Id="rId20" Target="../media/image24.png" Type="http://schemas.openxmlformats.org/officeDocument/2006/relationships/image"/><Relationship Id="rId21" Target="../media/image25.svg" Type="http://schemas.openxmlformats.org/officeDocument/2006/relationships/image"/><Relationship Id="rId22" Target="../media/image26.jpe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57.svg" Type="http://schemas.openxmlformats.org/officeDocument/2006/relationships/image"/><Relationship Id="rId5" Target="../media/image58.png" Type="http://schemas.openxmlformats.org/officeDocument/2006/relationships/image"/><Relationship Id="rId6" Target="../media/image5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1.pn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3.jpeg" Type="http://schemas.openxmlformats.org/officeDocument/2006/relationships/image"/><Relationship Id="rId4" Target="../media/image64.jpe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68.svg" Type="http://schemas.openxmlformats.org/officeDocument/2006/relationships/image"/><Relationship Id="rId4" Target="../media/image6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98295" y="5725999"/>
            <a:ext cx="14099416" cy="140994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04296"/>
            <a:ext cx="8644309" cy="356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22"/>
              </a:lnSpc>
            </a:pPr>
            <a:r>
              <a:rPr lang="en-US" sz="665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STUDENT PERFORMANCE</a:t>
            </a:r>
          </a:p>
          <a:p>
            <a:pPr algn="l">
              <a:lnSpc>
                <a:spcPts val="9322"/>
              </a:lnSpc>
              <a:spcBef>
                <a:spcPct val="0"/>
              </a:spcBef>
            </a:pPr>
            <a:r>
              <a:rPr lang="en-US" sz="665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ANALYSIS PIPELINE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20234" y="-1717598"/>
            <a:ext cx="3735531" cy="373553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7857" y="-643475"/>
            <a:ext cx="1286950" cy="128695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929195" y="8389571"/>
            <a:ext cx="3735531" cy="373553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394763" y="2577438"/>
            <a:ext cx="9995661" cy="6680862"/>
            <a:chOff x="0" y="0"/>
            <a:chExt cx="13327548" cy="89078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67344" y="6381226"/>
              <a:ext cx="12792860" cy="2526590"/>
            </a:xfrm>
            <a:custGeom>
              <a:avLst/>
              <a:gdLst/>
              <a:ahLst/>
              <a:cxnLst/>
              <a:rect r="r" b="b" t="t" l="l"/>
              <a:pathLst>
                <a:path h="2526590" w="12792860">
                  <a:moveTo>
                    <a:pt x="0" y="0"/>
                  </a:moveTo>
                  <a:lnTo>
                    <a:pt x="12792860" y="0"/>
                  </a:lnTo>
                  <a:lnTo>
                    <a:pt x="12792860" y="2526590"/>
                  </a:lnTo>
                  <a:lnTo>
                    <a:pt x="0" y="2526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7" id="17"/>
            <p:cNvGrpSpPr>
              <a:grpSpLocks noChangeAspect="true"/>
            </p:cNvGrpSpPr>
            <p:nvPr/>
          </p:nvGrpSpPr>
          <p:grpSpPr>
            <a:xfrm rot="0">
              <a:off x="0" y="0"/>
              <a:ext cx="13327548" cy="7644521"/>
              <a:chOff x="0" y="0"/>
              <a:chExt cx="7981950" cy="457835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765810" y="21590"/>
                <a:ext cx="6451600" cy="4326890"/>
              </a:xfrm>
              <a:custGeom>
                <a:avLst/>
                <a:gdLst/>
                <a:ahLst/>
                <a:cxnLst/>
                <a:rect r="r" b="b" t="t" l="l"/>
                <a:pathLst>
                  <a:path h="4326890" w="6451600">
                    <a:moveTo>
                      <a:pt x="6224270" y="0"/>
                    </a:moveTo>
                    <a:lnTo>
                      <a:pt x="226060" y="0"/>
                    </a:lnTo>
                    <a:cubicBezTo>
                      <a:pt x="101600" y="0"/>
                      <a:pt x="0" y="101600"/>
                      <a:pt x="0" y="226060"/>
                    </a:cubicBezTo>
                    <a:lnTo>
                      <a:pt x="0" y="4326890"/>
                    </a:lnTo>
                    <a:lnTo>
                      <a:pt x="6451601" y="4326890"/>
                    </a:lnTo>
                    <a:lnTo>
                      <a:pt x="6451601" y="226060"/>
                    </a:lnTo>
                    <a:cubicBezTo>
                      <a:pt x="6450331" y="101600"/>
                      <a:pt x="6348731" y="0"/>
                      <a:pt x="6224270" y="0"/>
                    </a:cubicBezTo>
                    <a:close/>
                    <a:moveTo>
                      <a:pt x="6252210" y="4043680"/>
                    </a:moveTo>
                    <a:lnTo>
                      <a:pt x="196851" y="4043680"/>
                    </a:lnTo>
                    <a:lnTo>
                      <a:pt x="196851" y="255270"/>
                    </a:lnTo>
                    <a:lnTo>
                      <a:pt x="6252210" y="255270"/>
                    </a:lnTo>
                    <a:lnTo>
                      <a:pt x="6252210" y="4043680"/>
                    </a:lnTo>
                    <a:close/>
                  </a:path>
                </a:pathLst>
              </a:custGeom>
              <a:solidFill>
                <a:srgbClr val="242424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981950" cy="4542790"/>
              </a:xfrm>
              <a:custGeom>
                <a:avLst/>
                <a:gdLst/>
                <a:ahLst/>
                <a:cxnLst/>
                <a:rect r="r" b="b" t="t" l="l"/>
                <a:pathLst>
                  <a:path h="4542790" w="7981950">
                    <a:moveTo>
                      <a:pt x="7239000" y="4348480"/>
                    </a:moveTo>
                    <a:lnTo>
                      <a:pt x="7239000" y="243840"/>
                    </a:lnTo>
                    <a:cubicBezTo>
                      <a:pt x="7239000" y="109220"/>
                      <a:pt x="7129780" y="0"/>
                      <a:pt x="6995160" y="0"/>
                    </a:cubicBezTo>
                    <a:lnTo>
                      <a:pt x="985520" y="0"/>
                    </a:lnTo>
                    <a:cubicBezTo>
                      <a:pt x="852170" y="0"/>
                      <a:pt x="742950" y="109220"/>
                      <a:pt x="742950" y="243840"/>
                    </a:cubicBezTo>
                    <a:lnTo>
                      <a:pt x="742950" y="4349750"/>
                    </a:lnTo>
                    <a:lnTo>
                      <a:pt x="0" y="4349750"/>
                    </a:lnTo>
                    <a:lnTo>
                      <a:pt x="0" y="4447540"/>
                    </a:lnTo>
                    <a:cubicBezTo>
                      <a:pt x="0" y="4500880"/>
                      <a:pt x="43180" y="4542790"/>
                      <a:pt x="95250" y="4542790"/>
                    </a:cubicBezTo>
                    <a:lnTo>
                      <a:pt x="7886700" y="4542790"/>
                    </a:lnTo>
                    <a:cubicBezTo>
                      <a:pt x="7940040" y="4542790"/>
                      <a:pt x="7981950" y="4499610"/>
                      <a:pt x="7981950" y="4447540"/>
                    </a:cubicBezTo>
                    <a:lnTo>
                      <a:pt x="7981950" y="4349750"/>
                    </a:lnTo>
                    <a:lnTo>
                      <a:pt x="7239000" y="4349750"/>
                    </a:lnTo>
                    <a:close/>
                    <a:moveTo>
                      <a:pt x="4519930" y="4348480"/>
                    </a:moveTo>
                    <a:lnTo>
                      <a:pt x="4519930" y="4349750"/>
                    </a:lnTo>
                    <a:cubicBezTo>
                      <a:pt x="4519930" y="4403090"/>
                      <a:pt x="4476750" y="4445000"/>
                      <a:pt x="4424680" y="4445000"/>
                    </a:cubicBezTo>
                    <a:lnTo>
                      <a:pt x="3557270" y="4445000"/>
                    </a:lnTo>
                    <a:cubicBezTo>
                      <a:pt x="3503930" y="4445000"/>
                      <a:pt x="3462020" y="4401820"/>
                      <a:pt x="3462020" y="4349750"/>
                    </a:cubicBezTo>
                    <a:lnTo>
                      <a:pt x="3462020" y="4348480"/>
                    </a:lnTo>
                    <a:lnTo>
                      <a:pt x="765810" y="4348480"/>
                    </a:lnTo>
                    <a:lnTo>
                      <a:pt x="765810" y="247650"/>
                    </a:lnTo>
                    <a:cubicBezTo>
                      <a:pt x="765810" y="123190"/>
                      <a:pt x="867410" y="21590"/>
                      <a:pt x="991870" y="21590"/>
                    </a:cubicBezTo>
                    <a:lnTo>
                      <a:pt x="6990080" y="21590"/>
                    </a:lnTo>
                    <a:cubicBezTo>
                      <a:pt x="7114539" y="21590"/>
                      <a:pt x="7216139" y="123190"/>
                      <a:pt x="7216139" y="247650"/>
                    </a:cubicBezTo>
                    <a:lnTo>
                      <a:pt x="7216139" y="4348480"/>
                    </a:lnTo>
                    <a:lnTo>
                      <a:pt x="4519930" y="4348480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</p:sp>
          <p:sp>
            <p:nvSpPr>
              <p:cNvPr name="Freeform 20" id="20"/>
              <p:cNvSpPr/>
              <p:nvPr/>
            </p:nvSpPr>
            <p:spPr>
              <a:xfrm flipH="false" flipV="false" rot="0">
                <a:off x="3460750" y="4349750"/>
                <a:ext cx="1059180" cy="96520"/>
              </a:xfrm>
              <a:custGeom>
                <a:avLst/>
                <a:gdLst/>
                <a:ahLst/>
                <a:cxnLst/>
                <a:rect r="r" b="b" t="t" l="l"/>
                <a:pathLst>
                  <a:path h="96520" w="1059180">
                    <a:moveTo>
                      <a:pt x="96520" y="96520"/>
                    </a:moveTo>
                    <a:lnTo>
                      <a:pt x="963930" y="96520"/>
                    </a:lnTo>
                    <a:cubicBezTo>
                      <a:pt x="1017270" y="96520"/>
                      <a:pt x="1059180" y="53340"/>
                      <a:pt x="1059180" y="1270"/>
                    </a:cubicBezTo>
                    <a:lnTo>
                      <a:pt x="1059180" y="0"/>
                    </a:lnTo>
                    <a:lnTo>
                      <a:pt x="0" y="0"/>
                    </a:lnTo>
                    <a:lnTo>
                      <a:pt x="0" y="1270"/>
                    </a:lnTo>
                    <a:cubicBezTo>
                      <a:pt x="0" y="53340"/>
                      <a:pt x="43180" y="96520"/>
                      <a:pt x="96520" y="96520"/>
                    </a:cubicBezTo>
                    <a:close/>
                  </a:path>
                </a:pathLst>
              </a:custGeom>
              <a:solidFill>
                <a:srgbClr val="CCCCCC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163830" y="4542790"/>
                <a:ext cx="7654290" cy="35560"/>
              </a:xfrm>
              <a:custGeom>
                <a:avLst/>
                <a:gdLst/>
                <a:ahLst/>
                <a:cxnLst/>
                <a:rect r="r" b="b" t="t" l="l"/>
                <a:pathLst>
                  <a:path h="35560" w="7654290">
                    <a:moveTo>
                      <a:pt x="0" y="0"/>
                    </a:moveTo>
                    <a:cubicBezTo>
                      <a:pt x="0" y="20320"/>
                      <a:pt x="16510" y="35560"/>
                      <a:pt x="35560" y="35560"/>
                    </a:cubicBezTo>
                    <a:lnTo>
                      <a:pt x="7618730" y="35560"/>
                    </a:lnTo>
                    <a:cubicBezTo>
                      <a:pt x="7639050" y="35560"/>
                      <a:pt x="7654290" y="19050"/>
                      <a:pt x="765429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962660" y="276860"/>
                <a:ext cx="6055360" cy="3789680"/>
              </a:xfrm>
              <a:custGeom>
                <a:avLst/>
                <a:gdLst/>
                <a:ahLst/>
                <a:cxnLst/>
                <a:rect r="r" b="b" t="t" l="l"/>
                <a:pathLst>
                  <a:path h="3789680" w="6055360">
                    <a:moveTo>
                      <a:pt x="0" y="0"/>
                    </a:moveTo>
                    <a:lnTo>
                      <a:pt x="6055360" y="0"/>
                    </a:lnTo>
                    <a:lnTo>
                      <a:pt x="6055360" y="3789680"/>
                    </a:lnTo>
                    <a:lnTo>
                      <a:pt x="0" y="378968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-3310" r="0" b="-3310"/>
                </a:stretch>
              </a:blipFill>
            </p:spPr>
          </p:sp>
        </p:grpSp>
      </p:grpSp>
      <p:sp>
        <p:nvSpPr>
          <p:cNvPr name="TextBox 23" id="23"/>
          <p:cNvSpPr txBox="true"/>
          <p:nvPr/>
        </p:nvSpPr>
        <p:spPr>
          <a:xfrm rot="0">
            <a:off x="1028700" y="5410654"/>
            <a:ext cx="7366063" cy="1492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  <a:spcBef>
                <a:spcPct val="0"/>
              </a:spcBef>
            </a:pPr>
            <a:r>
              <a:rPr lang="en-US" sz="2753" spc="-55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Building a Data-Driven System for Mastery Tracking, Difficulty Analysis &amp; Personalized Recommendations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7438785"/>
            <a:ext cx="7366063" cy="520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  <a:spcBef>
                <a:spcPct val="0"/>
              </a:spcBef>
            </a:pPr>
            <a:r>
              <a:rPr lang="en-US" b="true" sz="2753" spc="-55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By Khoa Hoang, </a:t>
            </a:r>
            <a:r>
              <a:rPr lang="en-US" b="true" sz="2753" spc="-55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Mujeeb Ali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17814" y="-315404"/>
            <a:ext cx="3964281" cy="10917809"/>
            <a:chOff x="0" y="0"/>
            <a:chExt cx="1044090" cy="2875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090" cy="2875472"/>
            </a:xfrm>
            <a:custGeom>
              <a:avLst/>
              <a:gdLst/>
              <a:ahLst/>
              <a:cxnLst/>
              <a:rect r="r" b="b" t="t" l="l"/>
              <a:pathLst>
                <a:path h="2875472" w="1044090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044090" cy="2942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49437" y="597622"/>
            <a:ext cx="8012531" cy="115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7"/>
              </a:lnSpc>
              <a:spcBef>
                <a:spcPct val="0"/>
              </a:spcBef>
            </a:pPr>
            <a:r>
              <a:rPr lang="en-US" b="true" sz="6384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Pipeline 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867766" y="-1614217"/>
            <a:ext cx="3360397" cy="336039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5400000">
            <a:off x="2220639" y="2756559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96731" y="447246"/>
            <a:ext cx="5972616" cy="9392508"/>
          </a:xfrm>
          <a:custGeom>
            <a:avLst/>
            <a:gdLst/>
            <a:ahLst/>
            <a:cxnLst/>
            <a:rect r="r" b="b" t="t" l="l"/>
            <a:pathLst>
              <a:path h="9392508" w="5972616">
                <a:moveTo>
                  <a:pt x="0" y="0"/>
                </a:moveTo>
                <a:lnTo>
                  <a:pt x="5972616" y="0"/>
                </a:lnTo>
                <a:lnTo>
                  <a:pt x="5972616" y="9392508"/>
                </a:lnTo>
                <a:lnTo>
                  <a:pt x="0" y="9392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87" t="0" r="-2387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71363" y="2662284"/>
            <a:ext cx="7867150" cy="53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5"/>
              </a:lnSpc>
            </a:pPr>
            <a:r>
              <a:rPr lang="en-US" sz="2853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data_loader.py – Data ingestion &amp; cleaning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5400000">
            <a:off x="2220639" y="3382066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71363" y="3287791"/>
            <a:ext cx="8146719" cy="53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2853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progress.py – Student progress computation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5400000">
            <a:off x="2220639" y="4007303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971363" y="3913028"/>
            <a:ext cx="7867150" cy="53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difficulty.py – Topic difficulty scoring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5400000">
            <a:off x="2220639" y="4632810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971363" y="4538535"/>
            <a:ext cx="7436383" cy="53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clustering.py – Student grouping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5400000">
            <a:off x="2220639" y="5258047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971363" y="5163772"/>
            <a:ext cx="7744074" cy="53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prediction.py – Mastery prediction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5400000">
            <a:off x="2220639" y="5883554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971363" y="5789278"/>
            <a:ext cx="8443936" cy="53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recommendations.py – Tutor recommendations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5400000">
            <a:off x="2220639" y="6508791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971363" y="6414515"/>
            <a:ext cx="7744074" cy="53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dashboard.py – Visual reports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5400000">
            <a:off x="2220639" y="7134297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971363" y="7040022"/>
            <a:ext cx="7436383" cy="53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reports.py – CSV &amp; PDF output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5400000">
            <a:off x="2220639" y="7759535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971363" y="7665259"/>
            <a:ext cx="7436383" cy="53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logger.py – Logging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5400000">
            <a:off x="2220639" y="8384772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971363" y="8290496"/>
            <a:ext cx="7436383" cy="53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main.py – Pipeline orchestration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33353" y="4503639"/>
            <a:ext cx="7228151" cy="190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1"/>
              </a:lnSpc>
              <a:spcBef>
                <a:spcPct val="0"/>
              </a:spcBef>
            </a:pPr>
            <a:r>
              <a:rPr lang="en-US" b="true" sz="5343">
                <a:solidFill>
                  <a:srgbClr val="051D40"/>
                </a:solidFill>
                <a:latin typeface="Poppins Bold"/>
                <a:ea typeface="Poppins Bold"/>
                <a:cs typeface="Poppins Bold"/>
                <a:sym typeface="Poppins Bold"/>
              </a:rPr>
              <a:t>PIPELINE DIAGRAM (PROFESSIONAL)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825919" y="669068"/>
            <a:ext cx="10829780" cy="8948863"/>
            <a:chOff x="0" y="0"/>
            <a:chExt cx="14439707" cy="1193181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3539391" y="7084609"/>
              <a:ext cx="7303253" cy="951811"/>
              <a:chOff x="0" y="0"/>
              <a:chExt cx="2735646" cy="35652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735646" cy="356528"/>
              </a:xfrm>
              <a:custGeom>
                <a:avLst/>
                <a:gdLst/>
                <a:ahLst/>
                <a:cxnLst/>
                <a:rect r="r" b="b" t="t" l="l"/>
                <a:pathLst>
                  <a:path h="356528" w="2735646">
                    <a:moveTo>
                      <a:pt x="29682" y="0"/>
                    </a:moveTo>
                    <a:lnTo>
                      <a:pt x="2705965" y="0"/>
                    </a:lnTo>
                    <a:cubicBezTo>
                      <a:pt x="2722357" y="0"/>
                      <a:pt x="2735646" y="13289"/>
                      <a:pt x="2735646" y="29682"/>
                    </a:cubicBezTo>
                    <a:lnTo>
                      <a:pt x="2735646" y="326847"/>
                    </a:lnTo>
                    <a:cubicBezTo>
                      <a:pt x="2735646" y="343239"/>
                      <a:pt x="2722357" y="356528"/>
                      <a:pt x="2705965" y="356528"/>
                    </a:cubicBezTo>
                    <a:lnTo>
                      <a:pt x="29682" y="356528"/>
                    </a:lnTo>
                    <a:cubicBezTo>
                      <a:pt x="21810" y="356528"/>
                      <a:pt x="14260" y="353401"/>
                      <a:pt x="8694" y="347835"/>
                    </a:cubicBezTo>
                    <a:cubicBezTo>
                      <a:pt x="3127" y="342268"/>
                      <a:pt x="0" y="334719"/>
                      <a:pt x="0" y="326847"/>
                    </a:cubicBezTo>
                    <a:lnTo>
                      <a:pt x="0" y="29682"/>
                    </a:lnTo>
                    <a:cubicBezTo>
                      <a:pt x="0" y="13289"/>
                      <a:pt x="13289" y="0"/>
                      <a:pt x="29682" y="0"/>
                    </a:cubicBezTo>
                    <a:close/>
                  </a:path>
                </a:pathLst>
              </a:custGeom>
              <a:solidFill>
                <a:srgbClr val="145DA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735646" cy="3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3539391" y="8534852"/>
              <a:ext cx="7303253" cy="951811"/>
              <a:chOff x="0" y="0"/>
              <a:chExt cx="2735646" cy="35652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735646" cy="356528"/>
              </a:xfrm>
              <a:custGeom>
                <a:avLst/>
                <a:gdLst/>
                <a:ahLst/>
                <a:cxnLst/>
                <a:rect r="r" b="b" t="t" l="l"/>
                <a:pathLst>
                  <a:path h="356528" w="2735646">
                    <a:moveTo>
                      <a:pt x="29682" y="0"/>
                    </a:moveTo>
                    <a:lnTo>
                      <a:pt x="2705965" y="0"/>
                    </a:lnTo>
                    <a:cubicBezTo>
                      <a:pt x="2722357" y="0"/>
                      <a:pt x="2735646" y="13289"/>
                      <a:pt x="2735646" y="29682"/>
                    </a:cubicBezTo>
                    <a:lnTo>
                      <a:pt x="2735646" y="326847"/>
                    </a:lnTo>
                    <a:cubicBezTo>
                      <a:pt x="2735646" y="343239"/>
                      <a:pt x="2722357" y="356528"/>
                      <a:pt x="2705965" y="356528"/>
                    </a:cubicBezTo>
                    <a:lnTo>
                      <a:pt x="29682" y="356528"/>
                    </a:lnTo>
                    <a:cubicBezTo>
                      <a:pt x="21810" y="356528"/>
                      <a:pt x="14260" y="353401"/>
                      <a:pt x="8694" y="347835"/>
                    </a:cubicBezTo>
                    <a:cubicBezTo>
                      <a:pt x="3127" y="342268"/>
                      <a:pt x="0" y="334719"/>
                      <a:pt x="0" y="326847"/>
                    </a:cubicBezTo>
                    <a:lnTo>
                      <a:pt x="0" y="29682"/>
                    </a:lnTo>
                    <a:cubicBezTo>
                      <a:pt x="0" y="13289"/>
                      <a:pt x="13289" y="0"/>
                      <a:pt x="29682" y="0"/>
                    </a:cubicBezTo>
                    <a:close/>
                  </a:path>
                </a:pathLst>
              </a:custGeom>
              <a:solidFill>
                <a:srgbClr val="145DA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735646" cy="3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10401062"/>
              <a:ext cx="6307199" cy="1530755"/>
              <a:chOff x="0" y="0"/>
              <a:chExt cx="2362545" cy="57338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362545" cy="573389"/>
              </a:xfrm>
              <a:custGeom>
                <a:avLst/>
                <a:gdLst/>
                <a:ahLst/>
                <a:cxnLst/>
                <a:rect r="r" b="b" t="t" l="l"/>
                <a:pathLst>
                  <a:path h="573389" w="2362545">
                    <a:moveTo>
                      <a:pt x="34369" y="0"/>
                    </a:moveTo>
                    <a:lnTo>
                      <a:pt x="2328176" y="0"/>
                    </a:lnTo>
                    <a:cubicBezTo>
                      <a:pt x="2347158" y="0"/>
                      <a:pt x="2362545" y="15388"/>
                      <a:pt x="2362545" y="34369"/>
                    </a:cubicBezTo>
                    <a:lnTo>
                      <a:pt x="2362545" y="539020"/>
                    </a:lnTo>
                    <a:cubicBezTo>
                      <a:pt x="2362545" y="548135"/>
                      <a:pt x="2358924" y="556877"/>
                      <a:pt x="2352479" y="563322"/>
                    </a:cubicBezTo>
                    <a:cubicBezTo>
                      <a:pt x="2346033" y="569768"/>
                      <a:pt x="2337291" y="573389"/>
                      <a:pt x="2328176" y="573389"/>
                    </a:cubicBezTo>
                    <a:lnTo>
                      <a:pt x="34369" y="573389"/>
                    </a:lnTo>
                    <a:cubicBezTo>
                      <a:pt x="25254" y="573389"/>
                      <a:pt x="16512" y="569768"/>
                      <a:pt x="10067" y="563322"/>
                    </a:cubicBezTo>
                    <a:cubicBezTo>
                      <a:pt x="3621" y="556877"/>
                      <a:pt x="0" y="548135"/>
                      <a:pt x="0" y="539020"/>
                    </a:cubicBezTo>
                    <a:lnTo>
                      <a:pt x="0" y="34369"/>
                    </a:lnTo>
                    <a:cubicBezTo>
                      <a:pt x="0" y="25254"/>
                      <a:pt x="3621" y="16512"/>
                      <a:pt x="10067" y="10067"/>
                    </a:cubicBezTo>
                    <a:cubicBezTo>
                      <a:pt x="16512" y="3621"/>
                      <a:pt x="25254" y="0"/>
                      <a:pt x="34369" y="0"/>
                    </a:cubicBezTo>
                    <a:close/>
                  </a:path>
                </a:pathLst>
              </a:custGeom>
              <a:solidFill>
                <a:srgbClr val="145DA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362545" cy="6114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949567" y="10401062"/>
              <a:ext cx="6490140" cy="1530755"/>
              <a:chOff x="0" y="0"/>
              <a:chExt cx="2431071" cy="57338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431071" cy="573389"/>
              </a:xfrm>
              <a:custGeom>
                <a:avLst/>
                <a:gdLst/>
                <a:ahLst/>
                <a:cxnLst/>
                <a:rect r="r" b="b" t="t" l="l"/>
                <a:pathLst>
                  <a:path h="573389" w="2431071">
                    <a:moveTo>
                      <a:pt x="33400" y="0"/>
                    </a:moveTo>
                    <a:lnTo>
                      <a:pt x="2397671" y="0"/>
                    </a:lnTo>
                    <a:cubicBezTo>
                      <a:pt x="2406529" y="0"/>
                      <a:pt x="2415025" y="3519"/>
                      <a:pt x="2421288" y="9783"/>
                    </a:cubicBezTo>
                    <a:cubicBezTo>
                      <a:pt x="2427552" y="16047"/>
                      <a:pt x="2431071" y="24542"/>
                      <a:pt x="2431071" y="33400"/>
                    </a:cubicBezTo>
                    <a:lnTo>
                      <a:pt x="2431071" y="539989"/>
                    </a:lnTo>
                    <a:cubicBezTo>
                      <a:pt x="2431071" y="558435"/>
                      <a:pt x="2416117" y="573389"/>
                      <a:pt x="2397671" y="573389"/>
                    </a:cubicBezTo>
                    <a:lnTo>
                      <a:pt x="33400" y="573389"/>
                    </a:lnTo>
                    <a:cubicBezTo>
                      <a:pt x="14954" y="573389"/>
                      <a:pt x="0" y="558435"/>
                      <a:pt x="0" y="539989"/>
                    </a:cubicBezTo>
                    <a:lnTo>
                      <a:pt x="0" y="33400"/>
                    </a:lnTo>
                    <a:cubicBezTo>
                      <a:pt x="0" y="14954"/>
                      <a:pt x="14954" y="0"/>
                      <a:pt x="33400" y="0"/>
                    </a:cubicBezTo>
                    <a:close/>
                  </a:path>
                </a:pathLst>
              </a:custGeom>
              <a:solidFill>
                <a:srgbClr val="145DA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431071" cy="6114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3539391" y="4187255"/>
              <a:ext cx="7303253" cy="951811"/>
              <a:chOff x="0" y="0"/>
              <a:chExt cx="2735646" cy="35652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735646" cy="356528"/>
              </a:xfrm>
              <a:custGeom>
                <a:avLst/>
                <a:gdLst/>
                <a:ahLst/>
                <a:cxnLst/>
                <a:rect r="r" b="b" t="t" l="l"/>
                <a:pathLst>
                  <a:path h="356528" w="2735646">
                    <a:moveTo>
                      <a:pt x="29682" y="0"/>
                    </a:moveTo>
                    <a:lnTo>
                      <a:pt x="2705965" y="0"/>
                    </a:lnTo>
                    <a:cubicBezTo>
                      <a:pt x="2722357" y="0"/>
                      <a:pt x="2735646" y="13289"/>
                      <a:pt x="2735646" y="29682"/>
                    </a:cubicBezTo>
                    <a:lnTo>
                      <a:pt x="2735646" y="326847"/>
                    </a:lnTo>
                    <a:cubicBezTo>
                      <a:pt x="2735646" y="343239"/>
                      <a:pt x="2722357" y="356528"/>
                      <a:pt x="2705965" y="356528"/>
                    </a:cubicBezTo>
                    <a:lnTo>
                      <a:pt x="29682" y="356528"/>
                    </a:lnTo>
                    <a:cubicBezTo>
                      <a:pt x="21810" y="356528"/>
                      <a:pt x="14260" y="353401"/>
                      <a:pt x="8694" y="347835"/>
                    </a:cubicBezTo>
                    <a:cubicBezTo>
                      <a:pt x="3127" y="342268"/>
                      <a:pt x="0" y="334719"/>
                      <a:pt x="0" y="326847"/>
                    </a:cubicBezTo>
                    <a:lnTo>
                      <a:pt x="0" y="29682"/>
                    </a:lnTo>
                    <a:cubicBezTo>
                      <a:pt x="0" y="13289"/>
                      <a:pt x="13289" y="0"/>
                      <a:pt x="29682" y="0"/>
                    </a:cubicBezTo>
                    <a:close/>
                  </a:path>
                </a:pathLst>
              </a:custGeom>
              <a:solidFill>
                <a:srgbClr val="145DA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2735646" cy="3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3539391" y="5637498"/>
              <a:ext cx="7303253" cy="951811"/>
              <a:chOff x="0" y="0"/>
              <a:chExt cx="2735646" cy="35652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735646" cy="356528"/>
              </a:xfrm>
              <a:custGeom>
                <a:avLst/>
                <a:gdLst/>
                <a:ahLst/>
                <a:cxnLst/>
                <a:rect r="r" b="b" t="t" l="l"/>
                <a:pathLst>
                  <a:path h="356528" w="2735646">
                    <a:moveTo>
                      <a:pt x="29682" y="0"/>
                    </a:moveTo>
                    <a:lnTo>
                      <a:pt x="2705965" y="0"/>
                    </a:lnTo>
                    <a:cubicBezTo>
                      <a:pt x="2722357" y="0"/>
                      <a:pt x="2735646" y="13289"/>
                      <a:pt x="2735646" y="29682"/>
                    </a:cubicBezTo>
                    <a:lnTo>
                      <a:pt x="2735646" y="326847"/>
                    </a:lnTo>
                    <a:cubicBezTo>
                      <a:pt x="2735646" y="343239"/>
                      <a:pt x="2722357" y="356528"/>
                      <a:pt x="2705965" y="356528"/>
                    </a:cubicBezTo>
                    <a:lnTo>
                      <a:pt x="29682" y="356528"/>
                    </a:lnTo>
                    <a:cubicBezTo>
                      <a:pt x="21810" y="356528"/>
                      <a:pt x="14260" y="353401"/>
                      <a:pt x="8694" y="347835"/>
                    </a:cubicBezTo>
                    <a:cubicBezTo>
                      <a:pt x="3127" y="342268"/>
                      <a:pt x="0" y="334719"/>
                      <a:pt x="0" y="326847"/>
                    </a:cubicBezTo>
                    <a:lnTo>
                      <a:pt x="0" y="29682"/>
                    </a:lnTo>
                    <a:cubicBezTo>
                      <a:pt x="0" y="13289"/>
                      <a:pt x="13289" y="0"/>
                      <a:pt x="29682" y="0"/>
                    </a:cubicBezTo>
                    <a:close/>
                  </a:path>
                </a:pathLst>
              </a:custGeom>
              <a:solidFill>
                <a:srgbClr val="145DA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735646" cy="3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539391" y="1289901"/>
              <a:ext cx="7303253" cy="951811"/>
              <a:chOff x="0" y="0"/>
              <a:chExt cx="2735646" cy="35652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735646" cy="356528"/>
              </a:xfrm>
              <a:custGeom>
                <a:avLst/>
                <a:gdLst/>
                <a:ahLst/>
                <a:cxnLst/>
                <a:rect r="r" b="b" t="t" l="l"/>
                <a:pathLst>
                  <a:path h="356528" w="2735646">
                    <a:moveTo>
                      <a:pt x="29682" y="0"/>
                    </a:moveTo>
                    <a:lnTo>
                      <a:pt x="2705965" y="0"/>
                    </a:lnTo>
                    <a:cubicBezTo>
                      <a:pt x="2722357" y="0"/>
                      <a:pt x="2735646" y="13289"/>
                      <a:pt x="2735646" y="29682"/>
                    </a:cubicBezTo>
                    <a:lnTo>
                      <a:pt x="2735646" y="326847"/>
                    </a:lnTo>
                    <a:cubicBezTo>
                      <a:pt x="2735646" y="343239"/>
                      <a:pt x="2722357" y="356528"/>
                      <a:pt x="2705965" y="356528"/>
                    </a:cubicBezTo>
                    <a:lnTo>
                      <a:pt x="29682" y="356528"/>
                    </a:lnTo>
                    <a:cubicBezTo>
                      <a:pt x="21810" y="356528"/>
                      <a:pt x="14260" y="353401"/>
                      <a:pt x="8694" y="347835"/>
                    </a:cubicBezTo>
                    <a:cubicBezTo>
                      <a:pt x="3127" y="342268"/>
                      <a:pt x="0" y="334719"/>
                      <a:pt x="0" y="326847"/>
                    </a:cubicBezTo>
                    <a:lnTo>
                      <a:pt x="0" y="29682"/>
                    </a:lnTo>
                    <a:cubicBezTo>
                      <a:pt x="0" y="13289"/>
                      <a:pt x="13289" y="0"/>
                      <a:pt x="29682" y="0"/>
                    </a:cubicBezTo>
                    <a:close/>
                  </a:path>
                </a:pathLst>
              </a:custGeom>
              <a:solidFill>
                <a:srgbClr val="145DA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735646" cy="3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3539391" y="2740144"/>
              <a:ext cx="7303253" cy="951811"/>
              <a:chOff x="0" y="0"/>
              <a:chExt cx="2735646" cy="35652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735646" cy="356528"/>
              </a:xfrm>
              <a:custGeom>
                <a:avLst/>
                <a:gdLst/>
                <a:ahLst/>
                <a:cxnLst/>
                <a:rect r="r" b="b" t="t" l="l"/>
                <a:pathLst>
                  <a:path h="356528" w="2735646">
                    <a:moveTo>
                      <a:pt x="29682" y="0"/>
                    </a:moveTo>
                    <a:lnTo>
                      <a:pt x="2705965" y="0"/>
                    </a:lnTo>
                    <a:cubicBezTo>
                      <a:pt x="2722357" y="0"/>
                      <a:pt x="2735646" y="13289"/>
                      <a:pt x="2735646" y="29682"/>
                    </a:cubicBezTo>
                    <a:lnTo>
                      <a:pt x="2735646" y="326847"/>
                    </a:lnTo>
                    <a:cubicBezTo>
                      <a:pt x="2735646" y="343239"/>
                      <a:pt x="2722357" y="356528"/>
                      <a:pt x="2705965" y="356528"/>
                    </a:cubicBezTo>
                    <a:lnTo>
                      <a:pt x="29682" y="356528"/>
                    </a:lnTo>
                    <a:cubicBezTo>
                      <a:pt x="21810" y="356528"/>
                      <a:pt x="14260" y="353401"/>
                      <a:pt x="8694" y="347835"/>
                    </a:cubicBezTo>
                    <a:cubicBezTo>
                      <a:pt x="3127" y="342268"/>
                      <a:pt x="0" y="334719"/>
                      <a:pt x="0" y="326847"/>
                    </a:cubicBezTo>
                    <a:lnTo>
                      <a:pt x="0" y="29682"/>
                    </a:lnTo>
                    <a:cubicBezTo>
                      <a:pt x="0" y="13289"/>
                      <a:pt x="13289" y="0"/>
                      <a:pt x="29682" y="0"/>
                    </a:cubicBezTo>
                    <a:close/>
                  </a:path>
                </a:pathLst>
              </a:custGeom>
              <a:solidFill>
                <a:srgbClr val="145DA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735646" cy="3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539391" y="0"/>
              <a:ext cx="7303253" cy="951811"/>
              <a:chOff x="0" y="0"/>
              <a:chExt cx="2735646" cy="356528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735646" cy="356528"/>
              </a:xfrm>
              <a:custGeom>
                <a:avLst/>
                <a:gdLst/>
                <a:ahLst/>
                <a:cxnLst/>
                <a:rect r="r" b="b" t="t" l="l"/>
                <a:pathLst>
                  <a:path h="356528" w="2735646">
                    <a:moveTo>
                      <a:pt x="29682" y="0"/>
                    </a:moveTo>
                    <a:lnTo>
                      <a:pt x="2705965" y="0"/>
                    </a:lnTo>
                    <a:cubicBezTo>
                      <a:pt x="2722357" y="0"/>
                      <a:pt x="2735646" y="13289"/>
                      <a:pt x="2735646" y="29682"/>
                    </a:cubicBezTo>
                    <a:lnTo>
                      <a:pt x="2735646" y="326847"/>
                    </a:lnTo>
                    <a:cubicBezTo>
                      <a:pt x="2735646" y="343239"/>
                      <a:pt x="2722357" y="356528"/>
                      <a:pt x="2705965" y="356528"/>
                    </a:cubicBezTo>
                    <a:lnTo>
                      <a:pt x="29682" y="356528"/>
                    </a:lnTo>
                    <a:cubicBezTo>
                      <a:pt x="21810" y="356528"/>
                      <a:pt x="14260" y="353401"/>
                      <a:pt x="8694" y="347835"/>
                    </a:cubicBezTo>
                    <a:cubicBezTo>
                      <a:pt x="3127" y="342268"/>
                      <a:pt x="0" y="334719"/>
                      <a:pt x="0" y="326847"/>
                    </a:cubicBezTo>
                    <a:lnTo>
                      <a:pt x="0" y="29682"/>
                    </a:lnTo>
                    <a:cubicBezTo>
                      <a:pt x="0" y="13289"/>
                      <a:pt x="13289" y="0"/>
                      <a:pt x="29682" y="0"/>
                    </a:cubicBezTo>
                    <a:close/>
                  </a:path>
                </a:pathLst>
              </a:custGeom>
              <a:solidFill>
                <a:srgbClr val="145DA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2735646" cy="3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34" id="34"/>
            <p:cNvSpPr/>
            <p:nvPr/>
          </p:nvSpPr>
          <p:spPr>
            <a:xfrm flipV="true">
              <a:off x="7002046" y="951811"/>
              <a:ext cx="0" cy="451888"/>
            </a:xfrm>
            <a:prstGeom prst="line">
              <a:avLst/>
            </a:prstGeom>
            <a:ln cap="flat" w="127000">
              <a:solidFill>
                <a:srgbClr val="051D40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 flipH="true" flipV="true">
              <a:off x="7065546" y="2241712"/>
              <a:ext cx="0" cy="631389"/>
            </a:xfrm>
            <a:prstGeom prst="line">
              <a:avLst/>
            </a:prstGeom>
            <a:ln cap="flat" w="127000">
              <a:solidFill>
                <a:srgbClr val="051D40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 flipH="true" flipV="true">
              <a:off x="7129046" y="3642625"/>
              <a:ext cx="0" cy="631389"/>
            </a:xfrm>
            <a:prstGeom prst="line">
              <a:avLst/>
            </a:prstGeom>
            <a:ln cap="flat" w="127000">
              <a:solidFill>
                <a:srgbClr val="051D40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AutoShape 37" id="37"/>
            <p:cNvSpPr/>
            <p:nvPr/>
          </p:nvSpPr>
          <p:spPr>
            <a:xfrm flipH="true" flipV="true">
              <a:off x="7154446" y="5091876"/>
              <a:ext cx="0" cy="631389"/>
            </a:xfrm>
            <a:prstGeom prst="line">
              <a:avLst/>
            </a:prstGeom>
            <a:ln cap="flat" w="127000">
              <a:solidFill>
                <a:srgbClr val="051D40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 flipH="true" flipV="true">
              <a:off x="7191017" y="6578399"/>
              <a:ext cx="0" cy="631389"/>
            </a:xfrm>
            <a:prstGeom prst="line">
              <a:avLst/>
            </a:prstGeom>
            <a:ln cap="flat" w="127000">
              <a:solidFill>
                <a:srgbClr val="051D40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 flipH="true" flipV="true">
              <a:off x="7191017" y="7964472"/>
              <a:ext cx="0" cy="631389"/>
            </a:xfrm>
            <a:prstGeom prst="line">
              <a:avLst/>
            </a:prstGeom>
            <a:ln cap="flat" w="127000">
              <a:solidFill>
                <a:srgbClr val="051D40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 flipV="true">
              <a:off x="7191017" y="9486662"/>
              <a:ext cx="0" cy="495187"/>
            </a:xfrm>
            <a:prstGeom prst="line">
              <a:avLst/>
            </a:prstGeom>
            <a:ln cap="flat" w="127000">
              <a:solidFill>
                <a:srgbClr val="051D4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3539629" y="9961295"/>
              <a:ext cx="7805975" cy="0"/>
            </a:xfrm>
            <a:prstGeom prst="line">
              <a:avLst/>
            </a:prstGeom>
            <a:ln cap="flat" w="127000">
              <a:solidFill>
                <a:srgbClr val="051D4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 flipV="true">
              <a:off x="3605160" y="9961295"/>
              <a:ext cx="0" cy="663278"/>
            </a:xfrm>
            <a:prstGeom prst="line">
              <a:avLst/>
            </a:prstGeom>
            <a:ln cap="flat" w="127000">
              <a:solidFill>
                <a:srgbClr val="051D40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 flipV="true">
              <a:off x="11345604" y="9929786"/>
              <a:ext cx="0" cy="683453"/>
            </a:xfrm>
            <a:prstGeom prst="line">
              <a:avLst/>
            </a:prstGeom>
            <a:ln cap="flat" w="127000">
              <a:solidFill>
                <a:srgbClr val="051D40"/>
              </a:solidFill>
              <a:prstDash val="solid"/>
              <a:headEnd type="arrow" len="sm" w="med"/>
              <a:tailEnd type="none" len="sm" w="sm"/>
            </a:ln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3845029" y="86713"/>
              <a:ext cx="530916" cy="707888"/>
            </a:xfrm>
            <a:custGeom>
              <a:avLst/>
              <a:gdLst/>
              <a:ahLst/>
              <a:cxnLst/>
              <a:rect r="r" b="b" t="t" l="l"/>
              <a:pathLst>
                <a:path h="707888" w="530916">
                  <a:moveTo>
                    <a:pt x="0" y="0"/>
                  </a:moveTo>
                  <a:lnTo>
                    <a:pt x="530916" y="0"/>
                  </a:lnTo>
                  <a:lnTo>
                    <a:pt x="530916" y="707888"/>
                  </a:lnTo>
                  <a:lnTo>
                    <a:pt x="0" y="70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781529" y="1516039"/>
              <a:ext cx="765337" cy="560609"/>
            </a:xfrm>
            <a:custGeom>
              <a:avLst/>
              <a:gdLst/>
              <a:ahLst/>
              <a:cxnLst/>
              <a:rect r="r" b="b" t="t" l="l"/>
              <a:pathLst>
                <a:path h="560609" w="765337">
                  <a:moveTo>
                    <a:pt x="0" y="0"/>
                  </a:moveTo>
                  <a:lnTo>
                    <a:pt x="765337" y="0"/>
                  </a:lnTo>
                  <a:lnTo>
                    <a:pt x="765337" y="560610"/>
                  </a:lnTo>
                  <a:lnTo>
                    <a:pt x="0" y="560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3781529" y="2840297"/>
              <a:ext cx="765598" cy="748372"/>
            </a:xfrm>
            <a:custGeom>
              <a:avLst/>
              <a:gdLst/>
              <a:ahLst/>
              <a:cxnLst/>
              <a:rect r="r" b="b" t="t" l="l"/>
              <a:pathLst>
                <a:path h="748372" w="765598">
                  <a:moveTo>
                    <a:pt x="0" y="0"/>
                  </a:moveTo>
                  <a:lnTo>
                    <a:pt x="765598" y="0"/>
                  </a:lnTo>
                  <a:lnTo>
                    <a:pt x="765598" y="748372"/>
                  </a:lnTo>
                  <a:lnTo>
                    <a:pt x="0" y="7483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3781529" y="4250755"/>
              <a:ext cx="817862" cy="817862"/>
            </a:xfrm>
            <a:custGeom>
              <a:avLst/>
              <a:gdLst/>
              <a:ahLst/>
              <a:cxnLst/>
              <a:rect r="r" b="b" t="t" l="l"/>
              <a:pathLst>
                <a:path h="817862" w="817862">
                  <a:moveTo>
                    <a:pt x="0" y="0"/>
                  </a:moveTo>
                  <a:lnTo>
                    <a:pt x="817862" y="0"/>
                  </a:lnTo>
                  <a:lnTo>
                    <a:pt x="817862" y="817862"/>
                  </a:lnTo>
                  <a:lnTo>
                    <a:pt x="0" y="817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9783504" y="4254229"/>
              <a:ext cx="817862" cy="817862"/>
            </a:xfrm>
            <a:custGeom>
              <a:avLst/>
              <a:gdLst/>
              <a:ahLst/>
              <a:cxnLst/>
              <a:rect r="r" b="b" t="t" l="l"/>
              <a:pathLst>
                <a:path h="817862" w="817862">
                  <a:moveTo>
                    <a:pt x="0" y="0"/>
                  </a:moveTo>
                  <a:lnTo>
                    <a:pt x="817862" y="0"/>
                  </a:lnTo>
                  <a:lnTo>
                    <a:pt x="817862" y="817862"/>
                  </a:lnTo>
                  <a:lnTo>
                    <a:pt x="0" y="817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9" id="49"/>
            <p:cNvSpPr/>
            <p:nvPr/>
          </p:nvSpPr>
          <p:spPr>
            <a:xfrm flipH="true" flipV="false" rot="0">
              <a:off x="9835768" y="2867383"/>
              <a:ext cx="765598" cy="748372"/>
            </a:xfrm>
            <a:custGeom>
              <a:avLst/>
              <a:gdLst/>
              <a:ahLst/>
              <a:cxnLst/>
              <a:rect r="r" b="b" t="t" l="l"/>
              <a:pathLst>
                <a:path h="748372" w="765598">
                  <a:moveTo>
                    <a:pt x="765598" y="0"/>
                  </a:moveTo>
                  <a:lnTo>
                    <a:pt x="0" y="0"/>
                  </a:lnTo>
                  <a:lnTo>
                    <a:pt x="0" y="748372"/>
                  </a:lnTo>
                  <a:lnTo>
                    <a:pt x="765598" y="748372"/>
                  </a:lnTo>
                  <a:lnTo>
                    <a:pt x="765598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9809767" y="1485502"/>
              <a:ext cx="765337" cy="560609"/>
            </a:xfrm>
            <a:custGeom>
              <a:avLst/>
              <a:gdLst/>
              <a:ahLst/>
              <a:cxnLst/>
              <a:rect r="r" b="b" t="t" l="l"/>
              <a:pathLst>
                <a:path h="560609" w="765337">
                  <a:moveTo>
                    <a:pt x="0" y="0"/>
                  </a:moveTo>
                  <a:lnTo>
                    <a:pt x="765336" y="0"/>
                  </a:lnTo>
                  <a:lnTo>
                    <a:pt x="765336" y="560609"/>
                  </a:lnTo>
                  <a:lnTo>
                    <a:pt x="0" y="560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9926977" y="86713"/>
              <a:ext cx="530916" cy="707888"/>
            </a:xfrm>
            <a:custGeom>
              <a:avLst/>
              <a:gdLst/>
              <a:ahLst/>
              <a:cxnLst/>
              <a:rect r="r" b="b" t="t" l="l"/>
              <a:pathLst>
                <a:path h="707888" w="530916">
                  <a:moveTo>
                    <a:pt x="0" y="0"/>
                  </a:moveTo>
                  <a:lnTo>
                    <a:pt x="530916" y="0"/>
                  </a:lnTo>
                  <a:lnTo>
                    <a:pt x="530916" y="707888"/>
                  </a:lnTo>
                  <a:lnTo>
                    <a:pt x="0" y="70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3845029" y="5762354"/>
              <a:ext cx="702098" cy="702098"/>
            </a:xfrm>
            <a:custGeom>
              <a:avLst/>
              <a:gdLst/>
              <a:ahLst/>
              <a:cxnLst/>
              <a:rect r="r" b="b" t="t" l="l"/>
              <a:pathLst>
                <a:path h="702098" w="702098">
                  <a:moveTo>
                    <a:pt x="0" y="0"/>
                  </a:moveTo>
                  <a:lnTo>
                    <a:pt x="702098" y="0"/>
                  </a:lnTo>
                  <a:lnTo>
                    <a:pt x="702098" y="702098"/>
                  </a:lnTo>
                  <a:lnTo>
                    <a:pt x="0" y="702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3" id="53"/>
            <p:cNvSpPr/>
            <p:nvPr/>
          </p:nvSpPr>
          <p:spPr>
            <a:xfrm flipH="true" flipV="false" rot="0">
              <a:off x="9783504" y="5761365"/>
              <a:ext cx="702098" cy="702098"/>
            </a:xfrm>
            <a:custGeom>
              <a:avLst/>
              <a:gdLst/>
              <a:ahLst/>
              <a:cxnLst/>
              <a:rect r="r" b="b" t="t" l="l"/>
              <a:pathLst>
                <a:path h="702098" w="702098">
                  <a:moveTo>
                    <a:pt x="702098" y="0"/>
                  </a:moveTo>
                  <a:lnTo>
                    <a:pt x="0" y="0"/>
                  </a:lnTo>
                  <a:lnTo>
                    <a:pt x="0" y="702098"/>
                  </a:lnTo>
                  <a:lnTo>
                    <a:pt x="702098" y="702098"/>
                  </a:lnTo>
                  <a:lnTo>
                    <a:pt x="702098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3806318" y="7160809"/>
              <a:ext cx="768285" cy="764443"/>
            </a:xfrm>
            <a:custGeom>
              <a:avLst/>
              <a:gdLst/>
              <a:ahLst/>
              <a:cxnLst/>
              <a:rect r="r" b="b" t="t" l="l"/>
              <a:pathLst>
                <a:path h="764443" w="768285">
                  <a:moveTo>
                    <a:pt x="0" y="0"/>
                  </a:moveTo>
                  <a:lnTo>
                    <a:pt x="768284" y="0"/>
                  </a:lnTo>
                  <a:lnTo>
                    <a:pt x="768284" y="764443"/>
                  </a:lnTo>
                  <a:lnTo>
                    <a:pt x="0" y="764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9750410" y="7178292"/>
              <a:ext cx="768285" cy="764443"/>
            </a:xfrm>
            <a:custGeom>
              <a:avLst/>
              <a:gdLst/>
              <a:ahLst/>
              <a:cxnLst/>
              <a:rect r="r" b="b" t="t" l="l"/>
              <a:pathLst>
                <a:path h="764443" w="768285">
                  <a:moveTo>
                    <a:pt x="0" y="0"/>
                  </a:moveTo>
                  <a:lnTo>
                    <a:pt x="768285" y="0"/>
                  </a:lnTo>
                  <a:lnTo>
                    <a:pt x="768285" y="764443"/>
                  </a:lnTo>
                  <a:lnTo>
                    <a:pt x="0" y="764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3784412" y="8671419"/>
              <a:ext cx="695447" cy="685884"/>
            </a:xfrm>
            <a:custGeom>
              <a:avLst/>
              <a:gdLst/>
              <a:ahLst/>
              <a:cxnLst/>
              <a:rect r="r" b="b" t="t" l="l"/>
              <a:pathLst>
                <a:path h="685884" w="695447">
                  <a:moveTo>
                    <a:pt x="0" y="0"/>
                  </a:moveTo>
                  <a:lnTo>
                    <a:pt x="695446" y="0"/>
                  </a:lnTo>
                  <a:lnTo>
                    <a:pt x="695446" y="685884"/>
                  </a:lnTo>
                  <a:lnTo>
                    <a:pt x="0" y="685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7" id="57"/>
            <p:cNvSpPr/>
            <p:nvPr/>
          </p:nvSpPr>
          <p:spPr>
            <a:xfrm flipH="true" flipV="false" rot="0">
              <a:off x="9841534" y="8671419"/>
              <a:ext cx="695447" cy="685884"/>
            </a:xfrm>
            <a:custGeom>
              <a:avLst/>
              <a:gdLst/>
              <a:ahLst/>
              <a:cxnLst/>
              <a:rect r="r" b="b" t="t" l="l"/>
              <a:pathLst>
                <a:path h="685884" w="695447">
                  <a:moveTo>
                    <a:pt x="695447" y="0"/>
                  </a:moveTo>
                  <a:lnTo>
                    <a:pt x="0" y="0"/>
                  </a:lnTo>
                  <a:lnTo>
                    <a:pt x="0" y="685884"/>
                  </a:lnTo>
                  <a:lnTo>
                    <a:pt x="695447" y="685884"/>
                  </a:lnTo>
                  <a:lnTo>
                    <a:pt x="695447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260463" y="10901095"/>
              <a:ext cx="932476" cy="725000"/>
            </a:xfrm>
            <a:custGeom>
              <a:avLst/>
              <a:gdLst/>
              <a:ahLst/>
              <a:cxnLst/>
              <a:rect r="r" b="b" t="t" l="l"/>
              <a:pathLst>
                <a:path h="725000" w="932476">
                  <a:moveTo>
                    <a:pt x="0" y="0"/>
                  </a:moveTo>
                  <a:lnTo>
                    <a:pt x="932476" y="0"/>
                  </a:lnTo>
                  <a:lnTo>
                    <a:pt x="932476" y="725000"/>
                  </a:lnTo>
                  <a:lnTo>
                    <a:pt x="0" y="72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5194637" y="10901095"/>
              <a:ext cx="932476" cy="725000"/>
            </a:xfrm>
            <a:custGeom>
              <a:avLst/>
              <a:gdLst/>
              <a:ahLst/>
              <a:cxnLst/>
              <a:rect r="r" b="b" t="t" l="l"/>
              <a:pathLst>
                <a:path h="725000" w="932476">
                  <a:moveTo>
                    <a:pt x="0" y="0"/>
                  </a:moveTo>
                  <a:lnTo>
                    <a:pt x="932476" y="0"/>
                  </a:lnTo>
                  <a:lnTo>
                    <a:pt x="932476" y="725000"/>
                  </a:lnTo>
                  <a:lnTo>
                    <a:pt x="0" y="72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8297409" y="10721728"/>
              <a:ext cx="678454" cy="880070"/>
            </a:xfrm>
            <a:custGeom>
              <a:avLst/>
              <a:gdLst/>
              <a:ahLst/>
              <a:cxnLst/>
              <a:rect r="r" b="b" t="t" l="l"/>
              <a:pathLst>
                <a:path h="880070" w="678454">
                  <a:moveTo>
                    <a:pt x="0" y="0"/>
                  </a:moveTo>
                  <a:lnTo>
                    <a:pt x="678454" y="0"/>
                  </a:lnTo>
                  <a:lnTo>
                    <a:pt x="678454" y="880071"/>
                  </a:lnTo>
                  <a:lnTo>
                    <a:pt x="0" y="880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3468191" y="10721728"/>
              <a:ext cx="705406" cy="904367"/>
            </a:xfrm>
            <a:custGeom>
              <a:avLst/>
              <a:gdLst/>
              <a:ahLst/>
              <a:cxnLst/>
              <a:rect r="r" b="b" t="t" l="l"/>
              <a:pathLst>
                <a:path h="904367" w="705406">
                  <a:moveTo>
                    <a:pt x="0" y="0"/>
                  </a:moveTo>
                  <a:lnTo>
                    <a:pt x="705406" y="0"/>
                  </a:lnTo>
                  <a:lnTo>
                    <a:pt x="705406" y="904367"/>
                  </a:lnTo>
                  <a:lnTo>
                    <a:pt x="0" y="904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 rot="0">
              <a:off x="5009676" y="140413"/>
              <a:ext cx="4365741" cy="585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Data</a:t>
              </a: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 Input (CSV) </a:t>
              </a:r>
              <a:r>
                <a:rPr lang="en-US" sz="2499">
                  <a:solidFill>
                    <a:srgbClr val="FFFFFF"/>
                  </a:solidFill>
                  <a:latin typeface="Codec Pro"/>
                  <a:ea typeface="Codec Pro"/>
                  <a:cs typeface="Codec Pro"/>
                  <a:sym typeface="Codec Pro"/>
                </a:rPr>
                <a:t> 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4920143" y="1430314"/>
              <a:ext cx="4163807" cy="585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Data</a:t>
              </a: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 Loader       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5336420" y="2917987"/>
              <a:ext cx="3709194" cy="585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Progress</a:t>
              </a: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 Analyzer 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5398630" y="4327668"/>
              <a:ext cx="3584773" cy="585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Diffic</a:t>
              </a: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ulty Scoring 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5406171" y="5815340"/>
              <a:ext cx="3569692" cy="585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Stude</a:t>
              </a: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nt Clusters  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5194637" y="7303013"/>
              <a:ext cx="3992761" cy="585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Mastery Predictio</a:t>
              </a: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n  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5115956" y="8674594"/>
              <a:ext cx="4150122" cy="585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Recommendations   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1469886" y="10636003"/>
              <a:ext cx="3447804" cy="11694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Dashb</a:t>
              </a: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oards (Visualization) 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9315340" y="10870414"/>
              <a:ext cx="3813373" cy="585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PDF</a:t>
              </a:r>
              <a:r>
                <a:rPr lang="en-US" b="true" sz="2499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 / CSV Reports 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16289" y="736411"/>
            <a:ext cx="7430459" cy="3368795"/>
            <a:chOff x="0" y="0"/>
            <a:chExt cx="1956993" cy="88725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956993" cy="887255"/>
            </a:xfrm>
            <a:custGeom>
              <a:avLst/>
              <a:gdLst/>
              <a:ahLst/>
              <a:cxnLst/>
              <a:rect r="r" b="b" t="t" l="l"/>
              <a:pathLst>
                <a:path h="887255" w="1956993">
                  <a:moveTo>
                    <a:pt x="21880" y="0"/>
                  </a:moveTo>
                  <a:lnTo>
                    <a:pt x="1935113" y="0"/>
                  </a:lnTo>
                  <a:cubicBezTo>
                    <a:pt x="1940916" y="0"/>
                    <a:pt x="1946481" y="2305"/>
                    <a:pt x="1950585" y="6409"/>
                  </a:cubicBezTo>
                  <a:cubicBezTo>
                    <a:pt x="1954688" y="10512"/>
                    <a:pt x="1956993" y="16077"/>
                    <a:pt x="1956993" y="21880"/>
                  </a:cubicBezTo>
                  <a:lnTo>
                    <a:pt x="1956993" y="865374"/>
                  </a:lnTo>
                  <a:cubicBezTo>
                    <a:pt x="1956993" y="871177"/>
                    <a:pt x="1954688" y="876743"/>
                    <a:pt x="1950585" y="880846"/>
                  </a:cubicBezTo>
                  <a:cubicBezTo>
                    <a:pt x="1946481" y="884949"/>
                    <a:pt x="1940916" y="887255"/>
                    <a:pt x="1935113" y="887255"/>
                  </a:cubicBezTo>
                  <a:lnTo>
                    <a:pt x="21880" y="887255"/>
                  </a:lnTo>
                  <a:cubicBezTo>
                    <a:pt x="16077" y="887255"/>
                    <a:pt x="10512" y="884949"/>
                    <a:pt x="6409" y="880846"/>
                  </a:cubicBezTo>
                  <a:cubicBezTo>
                    <a:pt x="2305" y="876743"/>
                    <a:pt x="0" y="871177"/>
                    <a:pt x="0" y="865374"/>
                  </a:cubicBezTo>
                  <a:lnTo>
                    <a:pt x="0" y="21880"/>
                  </a:lnTo>
                  <a:cubicBezTo>
                    <a:pt x="0" y="16077"/>
                    <a:pt x="2305" y="10512"/>
                    <a:pt x="6409" y="6409"/>
                  </a:cubicBezTo>
                  <a:cubicBezTo>
                    <a:pt x="10512" y="2305"/>
                    <a:pt x="16077" y="0"/>
                    <a:pt x="2188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1956993" cy="953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33353" y="1097868"/>
            <a:ext cx="6996331" cy="2645881"/>
            <a:chOff x="0" y="0"/>
            <a:chExt cx="1083915" cy="4099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83915" cy="409916"/>
            </a:xfrm>
            <a:custGeom>
              <a:avLst/>
              <a:gdLst/>
              <a:ahLst/>
              <a:cxnLst/>
              <a:rect r="r" b="b" t="t" l="l"/>
              <a:pathLst>
                <a:path h="409916" w="1083915">
                  <a:moveTo>
                    <a:pt x="25451" y="0"/>
                  </a:moveTo>
                  <a:lnTo>
                    <a:pt x="1058464" y="0"/>
                  </a:lnTo>
                  <a:cubicBezTo>
                    <a:pt x="1072520" y="0"/>
                    <a:pt x="1083915" y="11395"/>
                    <a:pt x="1083915" y="25451"/>
                  </a:cubicBezTo>
                  <a:lnTo>
                    <a:pt x="1083915" y="384465"/>
                  </a:lnTo>
                  <a:cubicBezTo>
                    <a:pt x="1083915" y="398521"/>
                    <a:pt x="1072520" y="409916"/>
                    <a:pt x="1058464" y="409916"/>
                  </a:cubicBezTo>
                  <a:lnTo>
                    <a:pt x="25451" y="409916"/>
                  </a:lnTo>
                  <a:cubicBezTo>
                    <a:pt x="18701" y="409916"/>
                    <a:pt x="12227" y="407235"/>
                    <a:pt x="7454" y="402462"/>
                  </a:cubicBezTo>
                  <a:cubicBezTo>
                    <a:pt x="2681" y="397689"/>
                    <a:pt x="0" y="391215"/>
                    <a:pt x="0" y="384465"/>
                  </a:cubicBezTo>
                  <a:lnTo>
                    <a:pt x="0" y="25451"/>
                  </a:lnTo>
                  <a:cubicBezTo>
                    <a:pt x="0" y="11395"/>
                    <a:pt x="11395" y="0"/>
                    <a:pt x="25451" y="0"/>
                  </a:cubicBezTo>
                  <a:close/>
                </a:path>
              </a:pathLst>
            </a:custGeom>
            <a:blipFill>
              <a:blip r:embed="rId22"/>
              <a:stretch>
                <a:fillRect l="0" t="-24278" r="0" b="-24278"/>
              </a:stretch>
            </a:blip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833353" y="6768236"/>
            <a:ext cx="5767584" cy="62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69"/>
              </a:lnSpc>
            </a:pPr>
            <a:r>
              <a:rPr lang="en-US" sz="3335" spc="-66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Flow of the Entire System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87179" y="-2187597"/>
            <a:ext cx="3774359" cy="3562368"/>
            <a:chOff x="0" y="0"/>
            <a:chExt cx="812800" cy="7671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67148"/>
            </a:xfrm>
            <a:custGeom>
              <a:avLst/>
              <a:gdLst/>
              <a:ahLst/>
              <a:cxnLst/>
              <a:rect r="r" b="b" t="t" l="l"/>
              <a:pathLst>
                <a:path h="767148" w="812800">
                  <a:moveTo>
                    <a:pt x="406400" y="0"/>
                  </a:moveTo>
                  <a:cubicBezTo>
                    <a:pt x="181951" y="0"/>
                    <a:pt x="0" y="171732"/>
                    <a:pt x="0" y="383574"/>
                  </a:cubicBezTo>
                  <a:cubicBezTo>
                    <a:pt x="0" y="595416"/>
                    <a:pt x="181951" y="767148"/>
                    <a:pt x="406400" y="767148"/>
                  </a:cubicBezTo>
                  <a:cubicBezTo>
                    <a:pt x="630849" y="767148"/>
                    <a:pt x="812800" y="595416"/>
                    <a:pt x="812800" y="383574"/>
                  </a:cubicBezTo>
                  <a:cubicBezTo>
                    <a:pt x="812800" y="17173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5245"/>
              <a:ext cx="660400" cy="689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66249" y="-250932"/>
            <a:ext cx="12640215" cy="10594657"/>
            <a:chOff x="0" y="0"/>
            <a:chExt cx="1630716" cy="13668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0716" cy="1366818"/>
            </a:xfrm>
            <a:custGeom>
              <a:avLst/>
              <a:gdLst/>
              <a:ahLst/>
              <a:cxnLst/>
              <a:rect r="r" b="b" t="t" l="l"/>
              <a:pathLst>
                <a:path h="1366818" w="1630716">
                  <a:moveTo>
                    <a:pt x="12862" y="0"/>
                  </a:moveTo>
                  <a:lnTo>
                    <a:pt x="1617853" y="0"/>
                  </a:lnTo>
                  <a:cubicBezTo>
                    <a:pt x="1624957" y="0"/>
                    <a:pt x="1630716" y="5759"/>
                    <a:pt x="1630716" y="12862"/>
                  </a:cubicBezTo>
                  <a:lnTo>
                    <a:pt x="1630716" y="1353956"/>
                  </a:lnTo>
                  <a:cubicBezTo>
                    <a:pt x="1630716" y="1357367"/>
                    <a:pt x="1629360" y="1360639"/>
                    <a:pt x="1626948" y="1363051"/>
                  </a:cubicBezTo>
                  <a:cubicBezTo>
                    <a:pt x="1624536" y="1365463"/>
                    <a:pt x="1621265" y="1366818"/>
                    <a:pt x="1617853" y="1366818"/>
                  </a:cubicBezTo>
                  <a:lnTo>
                    <a:pt x="12862" y="1366818"/>
                  </a:lnTo>
                  <a:cubicBezTo>
                    <a:pt x="9451" y="1366818"/>
                    <a:pt x="6179" y="1365463"/>
                    <a:pt x="3767" y="1363051"/>
                  </a:cubicBezTo>
                  <a:cubicBezTo>
                    <a:pt x="1355" y="1360639"/>
                    <a:pt x="0" y="1357367"/>
                    <a:pt x="0" y="1353956"/>
                  </a:cubicBezTo>
                  <a:lnTo>
                    <a:pt x="0" y="12862"/>
                  </a:lnTo>
                  <a:cubicBezTo>
                    <a:pt x="0" y="9451"/>
                    <a:pt x="1355" y="6179"/>
                    <a:pt x="3767" y="3767"/>
                  </a:cubicBezTo>
                  <a:cubicBezTo>
                    <a:pt x="6179" y="1355"/>
                    <a:pt x="9451" y="0"/>
                    <a:pt x="12862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630716" cy="1433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535556" y="1993452"/>
            <a:ext cx="11149864" cy="6940790"/>
          </a:xfrm>
          <a:custGeom>
            <a:avLst/>
            <a:gdLst/>
            <a:ahLst/>
            <a:cxnLst/>
            <a:rect r="r" b="b" t="t" l="l"/>
            <a:pathLst>
              <a:path h="6940790" w="11149864">
                <a:moveTo>
                  <a:pt x="0" y="0"/>
                </a:moveTo>
                <a:lnTo>
                  <a:pt x="11149864" y="0"/>
                </a:lnTo>
                <a:lnTo>
                  <a:pt x="11149864" y="6940791"/>
                </a:lnTo>
                <a:lnTo>
                  <a:pt x="0" y="6940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1374770"/>
            <a:ext cx="1237364" cy="1237364"/>
          </a:xfrm>
          <a:custGeom>
            <a:avLst/>
            <a:gdLst/>
            <a:ahLst/>
            <a:cxnLst/>
            <a:rect r="r" b="b" t="t" l="l"/>
            <a:pathLst>
              <a:path h="1237364" w="1237364">
                <a:moveTo>
                  <a:pt x="0" y="0"/>
                </a:moveTo>
                <a:lnTo>
                  <a:pt x="1237364" y="0"/>
                </a:lnTo>
                <a:lnTo>
                  <a:pt x="1237364" y="1237364"/>
                </a:lnTo>
                <a:lnTo>
                  <a:pt x="0" y="12373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4708531"/>
            <a:ext cx="8414772" cy="5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23"/>
              </a:lnSpc>
              <a:spcBef>
                <a:spcPct val="0"/>
              </a:spcBef>
            </a:pPr>
            <a:r>
              <a:rPr lang="en-US" b="true" sz="2730" spc="-54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</a:t>
            </a:r>
            <a:r>
              <a:rPr lang="en-US" b="true" sz="2730" spc="-54" strike="noStrike" u="none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unctions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603590"/>
            <a:ext cx="8414772" cy="1673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 b="true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Loader </a:t>
            </a:r>
          </a:p>
          <a:p>
            <a:pPr algn="l">
              <a:lnSpc>
                <a:spcPts val="6440"/>
              </a:lnSpc>
              <a:spcBef>
                <a:spcPct val="0"/>
              </a:spcBef>
            </a:pPr>
            <a:r>
              <a:rPr lang="en-US" b="true" sz="4600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(data_loader.py)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488066"/>
            <a:ext cx="8058035" cy="188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8026" indent="-284013" lvl="1">
              <a:lnSpc>
                <a:spcPts val="3683"/>
              </a:lnSpc>
              <a:spcBef>
                <a:spcPct val="0"/>
              </a:spcBef>
              <a:buFont typeface="Arial"/>
              <a:buChar char="•"/>
            </a:pPr>
            <a:r>
              <a:rPr lang="en-US" sz="2630" spc="-52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Load CSV / DataFrame input</a:t>
            </a:r>
          </a:p>
          <a:p>
            <a:pPr algn="l" marL="568026" indent="-284013" lvl="1">
              <a:lnSpc>
                <a:spcPts val="3683"/>
              </a:lnSpc>
              <a:spcBef>
                <a:spcPct val="0"/>
              </a:spcBef>
              <a:buFont typeface="Arial"/>
              <a:buChar char="•"/>
            </a:pPr>
            <a:r>
              <a:rPr lang="en-US" sz="2630" spc="-52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Extract topic score columns</a:t>
            </a:r>
          </a:p>
          <a:p>
            <a:pPr algn="l" marL="568026" indent="-284013" lvl="1">
              <a:lnSpc>
                <a:spcPts val="3683"/>
              </a:lnSpc>
              <a:spcBef>
                <a:spcPct val="0"/>
              </a:spcBef>
              <a:buFont typeface="Arial"/>
              <a:buChar char="•"/>
            </a:pPr>
            <a:r>
              <a:rPr lang="en-US" sz="2630" spc="-52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Clean missing values</a:t>
            </a:r>
          </a:p>
          <a:p>
            <a:pPr algn="l" marL="568026" indent="-284013" lvl="1">
              <a:lnSpc>
                <a:spcPts val="3683"/>
              </a:lnSpc>
              <a:spcBef>
                <a:spcPct val="0"/>
              </a:spcBef>
              <a:buFont typeface="Arial"/>
              <a:buChar char="•"/>
            </a:pPr>
            <a:r>
              <a:rPr lang="en-US" sz="2630" spc="-52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Normalize topic scores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526417"/>
            <a:ext cx="8414772" cy="5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23"/>
              </a:lnSpc>
              <a:spcBef>
                <a:spcPct val="0"/>
              </a:spcBef>
            </a:pPr>
            <a:r>
              <a:rPr lang="en-US" b="true" sz="2730" spc="-54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  <a:r>
              <a:rPr lang="en-US" b="true" sz="2730" spc="-54" strike="noStrike" u="none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utput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305952"/>
            <a:ext cx="8058035" cy="952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8026" indent="-284013" lvl="1">
              <a:lnSpc>
                <a:spcPts val="3683"/>
              </a:lnSpc>
              <a:spcBef>
                <a:spcPct val="0"/>
              </a:spcBef>
              <a:buFont typeface="Arial"/>
              <a:buChar char="•"/>
            </a:pPr>
            <a:r>
              <a:rPr lang="en-US" sz="2630" spc="-52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Cle</a:t>
            </a:r>
            <a:r>
              <a:rPr lang="en-US" sz="2630" spc="-52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an DataFrame</a:t>
            </a:r>
          </a:p>
          <a:p>
            <a:pPr algn="l" marL="568026" indent="-284013" lvl="1">
              <a:lnSpc>
                <a:spcPts val="3683"/>
              </a:lnSpc>
              <a:spcBef>
                <a:spcPct val="0"/>
              </a:spcBef>
              <a:buFont typeface="Arial"/>
              <a:buChar char="•"/>
            </a:pPr>
            <a:r>
              <a:rPr lang="en-US" sz="2630" spc="-52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List of topic names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52275" y="-1978065"/>
            <a:ext cx="3956130" cy="395613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4958" y="-343286"/>
            <a:ext cx="10427890" cy="11981839"/>
            <a:chOff x="0" y="0"/>
            <a:chExt cx="1345303" cy="15457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5303" cy="1545779"/>
            </a:xfrm>
            <a:custGeom>
              <a:avLst/>
              <a:gdLst/>
              <a:ahLst/>
              <a:cxnLst/>
              <a:rect r="r" b="b" t="t" l="l"/>
              <a:pathLst>
                <a:path h="1545779" w="1345303">
                  <a:moveTo>
                    <a:pt x="0" y="0"/>
                  </a:moveTo>
                  <a:lnTo>
                    <a:pt x="1345303" y="0"/>
                  </a:lnTo>
                  <a:lnTo>
                    <a:pt x="1345303" y="1545779"/>
                  </a:lnTo>
                  <a:lnTo>
                    <a:pt x="0" y="1545779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345303" cy="1612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48896" y="358038"/>
            <a:ext cx="8195104" cy="9570925"/>
          </a:xfrm>
          <a:custGeom>
            <a:avLst/>
            <a:gdLst/>
            <a:ahLst/>
            <a:cxnLst/>
            <a:rect r="r" b="b" t="t" l="l"/>
            <a:pathLst>
              <a:path h="9570925" w="8195104">
                <a:moveTo>
                  <a:pt x="0" y="0"/>
                </a:moveTo>
                <a:lnTo>
                  <a:pt x="8195104" y="0"/>
                </a:lnTo>
                <a:lnTo>
                  <a:pt x="8195104" y="9570924"/>
                </a:lnTo>
                <a:lnTo>
                  <a:pt x="0" y="95709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15755" y="550640"/>
            <a:ext cx="1611874" cy="1611874"/>
          </a:xfrm>
          <a:custGeom>
            <a:avLst/>
            <a:gdLst/>
            <a:ahLst/>
            <a:cxnLst/>
            <a:rect r="r" b="b" t="t" l="l"/>
            <a:pathLst>
              <a:path h="1611874" w="1611874">
                <a:moveTo>
                  <a:pt x="0" y="0"/>
                </a:moveTo>
                <a:lnTo>
                  <a:pt x="1611873" y="0"/>
                </a:lnTo>
                <a:lnTo>
                  <a:pt x="1611873" y="1611874"/>
                </a:lnTo>
                <a:lnTo>
                  <a:pt x="0" y="16118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15755" y="2775040"/>
            <a:ext cx="8414772" cy="6483260"/>
            <a:chOff x="0" y="0"/>
            <a:chExt cx="11219696" cy="864434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2612914"/>
              <a:ext cx="11219696" cy="647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23"/>
                </a:lnSpc>
                <a:spcBef>
                  <a:spcPct val="0"/>
                </a:spcBef>
              </a:pPr>
              <a:r>
                <a:rPr lang="en-US" b="true" sz="2730" spc="-54">
                  <a:solidFill>
                    <a:srgbClr val="051D4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Wha</a:t>
              </a:r>
              <a:r>
                <a:rPr lang="en-US" b="true" sz="2730" spc="-54" strike="noStrike" u="none">
                  <a:solidFill>
                    <a:srgbClr val="051D4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t it Computes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171450"/>
              <a:ext cx="11219696" cy="2174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40"/>
                </a:lnSpc>
                <a:spcBef>
                  <a:spcPct val="0"/>
                </a:spcBef>
              </a:pPr>
              <a:r>
                <a:rPr lang="en-US" b="true" sz="4600">
                  <a:solidFill>
                    <a:srgbClr val="051D4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Student Progress (progress.py)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645944"/>
              <a:ext cx="10744046" cy="2485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8026" indent="-284013" lvl="1">
                <a:lnSpc>
                  <a:spcPts val="368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30" spc="-52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Student performance across topics</a:t>
              </a:r>
            </a:p>
            <a:p>
              <a:pPr algn="l" marL="568026" indent="-284013" lvl="1">
                <a:lnSpc>
                  <a:spcPts val="368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30" spc="-52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We</a:t>
              </a:r>
              <a:r>
                <a:rPr lang="en-US" sz="2630" spc="-52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ak topics for each student</a:t>
              </a:r>
            </a:p>
            <a:p>
              <a:pPr algn="l" marL="568026" indent="-284013" lvl="1">
                <a:lnSpc>
                  <a:spcPts val="368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30" spc="-52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M</a:t>
              </a:r>
              <a:r>
                <a:rPr lang="en-US" sz="2630" spc="-52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astery percentages</a:t>
              </a:r>
            </a:p>
            <a:p>
              <a:pPr algn="l" marL="568026" indent="-284013" lvl="1">
                <a:lnSpc>
                  <a:spcPts val="368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30" spc="-52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Stud</a:t>
              </a:r>
              <a:r>
                <a:rPr lang="en-US" sz="2630" spc="-52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ent–Topic Score Matrix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370094"/>
              <a:ext cx="11219696" cy="647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23"/>
                </a:lnSpc>
                <a:spcBef>
                  <a:spcPct val="0"/>
                </a:spcBef>
              </a:pPr>
              <a:r>
                <a:rPr lang="en-US" b="true" sz="2730" spc="-54">
                  <a:solidFill>
                    <a:srgbClr val="051D4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Uses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7403124"/>
              <a:ext cx="10744046" cy="1241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8026" indent="-284013" lvl="1">
                <a:lnSpc>
                  <a:spcPts val="368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630" spc="-52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Forms the b</a:t>
              </a:r>
              <a:r>
                <a:rPr lang="en-US" sz="2630" spc="-52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ackbone for recommendations &amp; prediction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80435" y="-1668606"/>
            <a:ext cx="4015129" cy="40151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6647" y="3497259"/>
            <a:ext cx="6255423" cy="6046727"/>
            <a:chOff x="0" y="0"/>
            <a:chExt cx="1347276" cy="13023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7276" cy="1302327"/>
            </a:xfrm>
            <a:custGeom>
              <a:avLst/>
              <a:gdLst/>
              <a:ahLst/>
              <a:cxnLst/>
              <a:rect r="r" b="b" t="t" l="l"/>
              <a:pathLst>
                <a:path h="1302327" w="1347276">
                  <a:moveTo>
                    <a:pt x="54456" y="0"/>
                  </a:moveTo>
                  <a:lnTo>
                    <a:pt x="1292820" y="0"/>
                  </a:lnTo>
                  <a:cubicBezTo>
                    <a:pt x="1307262" y="0"/>
                    <a:pt x="1321114" y="5737"/>
                    <a:pt x="1331326" y="15950"/>
                  </a:cubicBezTo>
                  <a:cubicBezTo>
                    <a:pt x="1341538" y="26162"/>
                    <a:pt x="1347276" y="40013"/>
                    <a:pt x="1347276" y="54456"/>
                  </a:cubicBezTo>
                  <a:lnTo>
                    <a:pt x="1347276" y="1247871"/>
                  </a:lnTo>
                  <a:cubicBezTo>
                    <a:pt x="1347276" y="1277947"/>
                    <a:pt x="1322895" y="1302327"/>
                    <a:pt x="1292820" y="1302327"/>
                  </a:cubicBezTo>
                  <a:lnTo>
                    <a:pt x="54456" y="1302327"/>
                  </a:lnTo>
                  <a:cubicBezTo>
                    <a:pt x="40013" y="1302327"/>
                    <a:pt x="26162" y="1296590"/>
                    <a:pt x="15950" y="1286377"/>
                  </a:cubicBezTo>
                  <a:cubicBezTo>
                    <a:pt x="5737" y="1276165"/>
                    <a:pt x="0" y="1262314"/>
                    <a:pt x="0" y="1247871"/>
                  </a:cubicBezTo>
                  <a:lnTo>
                    <a:pt x="0" y="54456"/>
                  </a:lnTo>
                  <a:cubicBezTo>
                    <a:pt x="0" y="40013"/>
                    <a:pt x="5737" y="26162"/>
                    <a:pt x="15950" y="15950"/>
                  </a:cubicBezTo>
                  <a:cubicBezTo>
                    <a:pt x="26162" y="5737"/>
                    <a:pt x="40013" y="0"/>
                    <a:pt x="54456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47276" cy="1340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55921" y="3943344"/>
            <a:ext cx="10935432" cy="5154555"/>
            <a:chOff x="0" y="0"/>
            <a:chExt cx="14580576" cy="6872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89186" y="4690342"/>
              <a:ext cx="14202204" cy="2182399"/>
            </a:xfrm>
            <a:custGeom>
              <a:avLst/>
              <a:gdLst/>
              <a:ahLst/>
              <a:cxnLst/>
              <a:rect r="r" b="b" t="t" l="l"/>
              <a:pathLst>
                <a:path h="2182399" w="14202204">
                  <a:moveTo>
                    <a:pt x="0" y="0"/>
                  </a:moveTo>
                  <a:lnTo>
                    <a:pt x="14202204" y="0"/>
                  </a:lnTo>
                  <a:lnTo>
                    <a:pt x="14202204" y="2182398"/>
                  </a:lnTo>
                  <a:lnTo>
                    <a:pt x="0" y="2182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110" r="0" b="-1414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0">
              <a:off x="0" y="0"/>
              <a:ext cx="14580576" cy="5781541"/>
              <a:chOff x="0" y="0"/>
              <a:chExt cx="2288201" cy="90732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288201" cy="907325"/>
              </a:xfrm>
              <a:custGeom>
                <a:avLst/>
                <a:gdLst/>
                <a:ahLst/>
                <a:cxnLst/>
                <a:rect r="r" b="b" t="t" l="l"/>
                <a:pathLst>
                  <a:path h="907325" w="2288201">
                    <a:moveTo>
                      <a:pt x="31151" y="0"/>
                    </a:moveTo>
                    <a:lnTo>
                      <a:pt x="2257050" y="0"/>
                    </a:lnTo>
                    <a:cubicBezTo>
                      <a:pt x="2274254" y="0"/>
                      <a:pt x="2288201" y="13947"/>
                      <a:pt x="2288201" y="31151"/>
                    </a:cubicBezTo>
                    <a:lnTo>
                      <a:pt x="2288201" y="876175"/>
                    </a:lnTo>
                    <a:cubicBezTo>
                      <a:pt x="2288201" y="893379"/>
                      <a:pt x="2274254" y="907325"/>
                      <a:pt x="2257050" y="907325"/>
                    </a:cubicBezTo>
                    <a:lnTo>
                      <a:pt x="31151" y="907325"/>
                    </a:lnTo>
                    <a:cubicBezTo>
                      <a:pt x="13947" y="907325"/>
                      <a:pt x="0" y="893379"/>
                      <a:pt x="0" y="876175"/>
                    </a:cubicBezTo>
                    <a:lnTo>
                      <a:pt x="0" y="31151"/>
                    </a:lnTo>
                    <a:cubicBezTo>
                      <a:pt x="0" y="13947"/>
                      <a:pt x="13947" y="0"/>
                      <a:pt x="31151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288201" cy="945425"/>
              </a:xfrm>
              <a:prstGeom prst="rect">
                <a:avLst/>
              </a:prstGeom>
            </p:spPr>
            <p:txBody>
              <a:bodyPr anchor="ctr" rtlCol="false" tIns="46238" lIns="46238" bIns="46238" rIns="46238"/>
              <a:lstStyle/>
              <a:p>
                <a:pPr algn="ctr">
                  <a:lnSpc>
                    <a:spcPts val="2659"/>
                  </a:lnSpc>
                </a:pPr>
              </a:p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275868" y="758067"/>
              <a:ext cx="14028839" cy="3745418"/>
              <a:chOff x="0" y="0"/>
              <a:chExt cx="1394113" cy="372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94113" cy="372200"/>
              </a:xfrm>
              <a:custGeom>
                <a:avLst/>
                <a:gdLst/>
                <a:ahLst/>
                <a:cxnLst/>
                <a:rect r="r" b="b" t="t" l="l"/>
                <a:pathLst>
                  <a:path h="372200" w="1394113">
                    <a:moveTo>
                      <a:pt x="16924" y="0"/>
                    </a:moveTo>
                    <a:lnTo>
                      <a:pt x="1377189" y="0"/>
                    </a:lnTo>
                    <a:cubicBezTo>
                      <a:pt x="1381678" y="0"/>
                      <a:pt x="1385982" y="1783"/>
                      <a:pt x="1389156" y="4957"/>
                    </a:cubicBezTo>
                    <a:cubicBezTo>
                      <a:pt x="1392330" y="8131"/>
                      <a:pt x="1394113" y="12435"/>
                      <a:pt x="1394113" y="16924"/>
                    </a:cubicBezTo>
                    <a:lnTo>
                      <a:pt x="1394113" y="355276"/>
                    </a:lnTo>
                    <a:cubicBezTo>
                      <a:pt x="1394113" y="359765"/>
                      <a:pt x="1392330" y="364070"/>
                      <a:pt x="1389156" y="367243"/>
                    </a:cubicBezTo>
                    <a:cubicBezTo>
                      <a:pt x="1385982" y="370417"/>
                      <a:pt x="1381678" y="372200"/>
                      <a:pt x="1377189" y="372200"/>
                    </a:cubicBezTo>
                    <a:lnTo>
                      <a:pt x="16924" y="372200"/>
                    </a:lnTo>
                    <a:cubicBezTo>
                      <a:pt x="12435" y="372200"/>
                      <a:pt x="8131" y="370417"/>
                      <a:pt x="4957" y="367243"/>
                    </a:cubicBezTo>
                    <a:cubicBezTo>
                      <a:pt x="1783" y="364070"/>
                      <a:pt x="0" y="359765"/>
                      <a:pt x="0" y="355276"/>
                    </a:cubicBezTo>
                    <a:lnTo>
                      <a:pt x="0" y="16924"/>
                    </a:lnTo>
                    <a:cubicBezTo>
                      <a:pt x="0" y="12435"/>
                      <a:pt x="1783" y="8131"/>
                      <a:pt x="4957" y="4957"/>
                    </a:cubicBezTo>
                    <a:cubicBezTo>
                      <a:pt x="8131" y="1783"/>
                      <a:pt x="12435" y="0"/>
                      <a:pt x="16924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0" t="-97" r="0" b="-97"/>
                </a:stretch>
              </a:blipFill>
            </p:spPr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8401736" y="448451"/>
            <a:ext cx="1484529" cy="1507136"/>
          </a:xfrm>
          <a:custGeom>
            <a:avLst/>
            <a:gdLst/>
            <a:ahLst/>
            <a:cxnLst/>
            <a:rect r="r" b="b" t="t" l="l"/>
            <a:pathLst>
              <a:path h="1507136" w="1484529">
                <a:moveTo>
                  <a:pt x="0" y="0"/>
                </a:moveTo>
                <a:lnTo>
                  <a:pt x="1484528" y="0"/>
                </a:lnTo>
                <a:lnTo>
                  <a:pt x="1484528" y="1507136"/>
                </a:lnTo>
                <a:lnTo>
                  <a:pt x="0" y="1507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741358" y="1922032"/>
            <a:ext cx="10805285" cy="95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51"/>
              </a:lnSpc>
              <a:spcBef>
                <a:spcPct val="0"/>
              </a:spcBef>
            </a:pPr>
            <a:r>
              <a:rPr lang="en-US" b="true" sz="5108">
                <a:solidFill>
                  <a:srgbClr val="FDFDF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Topic Difficulty (difficulty.py)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0850" y="4175395"/>
            <a:ext cx="6358461" cy="56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97"/>
              </a:lnSpc>
              <a:spcBef>
                <a:spcPct val="0"/>
              </a:spcBef>
            </a:pPr>
            <a:r>
              <a:rPr lang="en-US" b="true" sz="3069" spc="-61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</a:t>
            </a:r>
            <a:r>
              <a:rPr lang="en-US" b="true" sz="3069" spc="-61" strike="noStrike" u="none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ormula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7764" y="4949333"/>
            <a:ext cx="5821384" cy="106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8432" indent="-319216" lvl="1">
              <a:lnSpc>
                <a:spcPts val="4139"/>
              </a:lnSpc>
              <a:spcBef>
                <a:spcPct val="0"/>
              </a:spcBef>
              <a:buFont typeface="Arial"/>
              <a:buChar char="•"/>
            </a:pPr>
            <a:r>
              <a:rPr lang="en-US" sz="2957" spc="-59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Difficulty Score = </a:t>
            </a:r>
            <a:r>
              <a:rPr lang="en-US" b="true" sz="2957" spc="-59" strike="noStrike" u="none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100 – mean (topic_score)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0850" y="6524031"/>
            <a:ext cx="6358461" cy="56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97"/>
              </a:lnSpc>
              <a:spcBef>
                <a:spcPct val="0"/>
              </a:spcBef>
            </a:pPr>
            <a:r>
              <a:rPr lang="en-US" b="true" sz="3069" spc="-61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Purp</a:t>
            </a:r>
            <a:r>
              <a:rPr lang="en-US" b="true" sz="3069" spc="-61" strike="noStrike" u="none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7764" y="7297970"/>
            <a:ext cx="5821384" cy="158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8432" indent="-319216" lvl="1">
              <a:lnSpc>
                <a:spcPts val="4139"/>
              </a:lnSpc>
              <a:spcBef>
                <a:spcPct val="0"/>
              </a:spcBef>
              <a:buFont typeface="Arial"/>
              <a:buChar char="•"/>
            </a:pPr>
            <a:r>
              <a:rPr lang="en-US" sz="2957" spc="-59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Rank topics by d</a:t>
            </a:r>
            <a:r>
              <a:rPr lang="en-US" sz="2957" spc="-59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ifficulty</a:t>
            </a:r>
          </a:p>
          <a:p>
            <a:pPr algn="l" marL="638432" indent="-319216" lvl="1">
              <a:lnSpc>
                <a:spcPts val="4139"/>
              </a:lnSpc>
              <a:spcBef>
                <a:spcPct val="0"/>
              </a:spcBef>
              <a:buFont typeface="Arial"/>
              <a:buChar char="•"/>
            </a:pPr>
            <a:r>
              <a:rPr lang="en-US" sz="2957" spc="-59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Id</a:t>
            </a:r>
            <a:r>
              <a:rPr lang="en-US" sz="2957" spc="-59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en</a:t>
            </a:r>
            <a:r>
              <a:rPr lang="en-US" sz="2957" spc="-59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tify</a:t>
            </a:r>
            <a:r>
              <a:rPr lang="en-US" sz="2957" spc="-59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 topics</a:t>
            </a:r>
            <a:r>
              <a:rPr lang="en-US" sz="2957" spc="-59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 needing </a:t>
            </a:r>
            <a:r>
              <a:rPr lang="en-US" sz="2957" spc="-59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c</a:t>
            </a:r>
            <a:r>
              <a:rPr lang="en-US" sz="2957" spc="-59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u</a:t>
            </a:r>
            <a:r>
              <a:rPr lang="en-US" sz="2957" spc="-59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r</a:t>
            </a:r>
            <a:r>
              <a:rPr lang="en-US" sz="2957" spc="-59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riculum att</a:t>
            </a:r>
            <a:r>
              <a:rPr lang="en-US" sz="2957" spc="-59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2957" spc="-59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ntion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5565272" y="8651814"/>
            <a:ext cx="4015129" cy="401512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138471"/>
            <a:ext cx="6900682" cy="6711043"/>
            <a:chOff x="0" y="0"/>
            <a:chExt cx="1486250" cy="1445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6250" cy="1445406"/>
            </a:xfrm>
            <a:custGeom>
              <a:avLst/>
              <a:gdLst/>
              <a:ahLst/>
              <a:cxnLst/>
              <a:rect r="r" b="b" t="t" l="l"/>
              <a:pathLst>
                <a:path h="1445406" w="1486250">
                  <a:moveTo>
                    <a:pt x="49364" y="0"/>
                  </a:moveTo>
                  <a:lnTo>
                    <a:pt x="1436886" y="0"/>
                  </a:lnTo>
                  <a:cubicBezTo>
                    <a:pt x="1449978" y="0"/>
                    <a:pt x="1462534" y="5201"/>
                    <a:pt x="1471791" y="14458"/>
                  </a:cubicBezTo>
                  <a:cubicBezTo>
                    <a:pt x="1481049" y="23716"/>
                    <a:pt x="1486250" y="36272"/>
                    <a:pt x="1486250" y="49364"/>
                  </a:cubicBezTo>
                  <a:lnTo>
                    <a:pt x="1486250" y="1396042"/>
                  </a:lnTo>
                  <a:cubicBezTo>
                    <a:pt x="1486250" y="1409134"/>
                    <a:pt x="1481049" y="1421690"/>
                    <a:pt x="1471791" y="1430947"/>
                  </a:cubicBezTo>
                  <a:cubicBezTo>
                    <a:pt x="1462534" y="1440205"/>
                    <a:pt x="1449978" y="1445406"/>
                    <a:pt x="1436886" y="1445406"/>
                  </a:cubicBezTo>
                  <a:lnTo>
                    <a:pt x="49364" y="1445406"/>
                  </a:lnTo>
                  <a:cubicBezTo>
                    <a:pt x="36272" y="1445406"/>
                    <a:pt x="23716" y="1440205"/>
                    <a:pt x="14458" y="1430947"/>
                  </a:cubicBezTo>
                  <a:cubicBezTo>
                    <a:pt x="5201" y="1421690"/>
                    <a:pt x="0" y="1409134"/>
                    <a:pt x="0" y="1396042"/>
                  </a:cubicBezTo>
                  <a:lnTo>
                    <a:pt x="0" y="49364"/>
                  </a:lnTo>
                  <a:cubicBezTo>
                    <a:pt x="0" y="36272"/>
                    <a:pt x="5201" y="23716"/>
                    <a:pt x="14458" y="14458"/>
                  </a:cubicBezTo>
                  <a:cubicBezTo>
                    <a:pt x="23716" y="5201"/>
                    <a:pt x="36272" y="0"/>
                    <a:pt x="49364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486250" cy="1512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37891" y="8984122"/>
            <a:ext cx="7693489" cy="1302878"/>
          </a:xfrm>
          <a:custGeom>
            <a:avLst/>
            <a:gdLst/>
            <a:ahLst/>
            <a:cxnLst/>
            <a:rect r="r" b="b" t="t" l="l"/>
            <a:pathLst>
              <a:path h="1302878" w="7693489">
                <a:moveTo>
                  <a:pt x="0" y="0"/>
                </a:moveTo>
                <a:lnTo>
                  <a:pt x="7693489" y="0"/>
                </a:lnTo>
                <a:lnTo>
                  <a:pt x="7693489" y="1302878"/>
                </a:lnTo>
                <a:lnTo>
                  <a:pt x="0" y="13028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34" t="-26732" r="-4334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537891" y="1063707"/>
            <a:ext cx="7990766" cy="8234581"/>
            <a:chOff x="0" y="0"/>
            <a:chExt cx="1672040" cy="17230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2040" cy="1723057"/>
            </a:xfrm>
            <a:custGeom>
              <a:avLst/>
              <a:gdLst/>
              <a:ahLst/>
              <a:cxnLst/>
              <a:rect r="r" b="b" t="t" l="l"/>
              <a:pathLst>
                <a:path h="1723057" w="1672040">
                  <a:moveTo>
                    <a:pt x="42630" y="0"/>
                  </a:moveTo>
                  <a:lnTo>
                    <a:pt x="1629410" y="0"/>
                  </a:lnTo>
                  <a:cubicBezTo>
                    <a:pt x="1640716" y="0"/>
                    <a:pt x="1651559" y="4491"/>
                    <a:pt x="1659554" y="12486"/>
                  </a:cubicBezTo>
                  <a:cubicBezTo>
                    <a:pt x="1667548" y="20481"/>
                    <a:pt x="1672040" y="31324"/>
                    <a:pt x="1672040" y="42630"/>
                  </a:cubicBezTo>
                  <a:lnTo>
                    <a:pt x="1672040" y="1680427"/>
                  </a:lnTo>
                  <a:cubicBezTo>
                    <a:pt x="1672040" y="1691734"/>
                    <a:pt x="1667548" y="1702577"/>
                    <a:pt x="1659554" y="1710571"/>
                  </a:cubicBezTo>
                  <a:cubicBezTo>
                    <a:pt x="1651559" y="1718566"/>
                    <a:pt x="1640716" y="1723057"/>
                    <a:pt x="1629410" y="1723057"/>
                  </a:cubicBezTo>
                  <a:lnTo>
                    <a:pt x="42630" y="1723057"/>
                  </a:lnTo>
                  <a:cubicBezTo>
                    <a:pt x="31324" y="1723057"/>
                    <a:pt x="20481" y="1718566"/>
                    <a:pt x="12486" y="1710571"/>
                  </a:cubicBezTo>
                  <a:cubicBezTo>
                    <a:pt x="4491" y="1702577"/>
                    <a:pt x="0" y="1691734"/>
                    <a:pt x="0" y="1680427"/>
                  </a:cubicBezTo>
                  <a:lnTo>
                    <a:pt x="0" y="42630"/>
                  </a:lnTo>
                  <a:cubicBezTo>
                    <a:pt x="0" y="31324"/>
                    <a:pt x="4491" y="20481"/>
                    <a:pt x="12486" y="12486"/>
                  </a:cubicBezTo>
                  <a:cubicBezTo>
                    <a:pt x="20481" y="4491"/>
                    <a:pt x="31324" y="0"/>
                    <a:pt x="42630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672040" cy="1789732"/>
            </a:xfrm>
            <a:prstGeom prst="rect">
              <a:avLst/>
            </a:prstGeom>
          </p:spPr>
          <p:txBody>
            <a:bodyPr anchor="ctr" rtlCol="false" tIns="46238" lIns="46238" bIns="46238" rIns="46238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051628" y="-3687592"/>
            <a:ext cx="5238063" cy="523806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219900"/>
            <a:ext cx="1550657" cy="1205636"/>
          </a:xfrm>
          <a:custGeom>
            <a:avLst/>
            <a:gdLst/>
            <a:ahLst/>
            <a:cxnLst/>
            <a:rect r="r" b="b" t="t" l="l"/>
            <a:pathLst>
              <a:path h="1205636" w="1550657">
                <a:moveTo>
                  <a:pt x="0" y="0"/>
                </a:moveTo>
                <a:lnTo>
                  <a:pt x="1550657" y="0"/>
                </a:lnTo>
                <a:lnTo>
                  <a:pt x="1550657" y="1205636"/>
                </a:lnTo>
                <a:lnTo>
                  <a:pt x="0" y="12056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1417121"/>
            <a:ext cx="5753385" cy="147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44"/>
              </a:lnSpc>
              <a:spcBef>
                <a:spcPct val="0"/>
              </a:spcBef>
            </a:pPr>
            <a:r>
              <a:rPr lang="en-US" b="true" sz="4103">
                <a:solidFill>
                  <a:srgbClr val="FDFDF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Mastery Prediction (prediction.py)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41243" y="3524763"/>
            <a:ext cx="6075596" cy="5938458"/>
            <a:chOff x="0" y="0"/>
            <a:chExt cx="8100795" cy="7917944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333589" y="-104775"/>
              <a:ext cx="7767206" cy="663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6"/>
                </a:lnSpc>
                <a:spcBef>
                  <a:spcPct val="0"/>
                </a:spcBef>
              </a:pPr>
              <a:r>
                <a:rPr lang="en-US" b="true" sz="2812" spc="-56">
                  <a:solidFill>
                    <a:srgbClr val="051D4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M</a:t>
              </a:r>
              <a:r>
                <a:rPr lang="en-US" b="true" sz="2812" spc="-56" strike="noStrike" u="none">
                  <a:solidFill>
                    <a:srgbClr val="051D4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odels Used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60039"/>
              <a:ext cx="7111138" cy="189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4910" indent="-292455" lvl="1">
                <a:lnSpc>
                  <a:spcPts val="379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09" spc="-54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RandomF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orestRegressor (pri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m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ary)</a:t>
              </a:r>
            </a:p>
            <a:p>
              <a:pPr algn="l" marL="584910" indent="-292455" lvl="1">
                <a:lnSpc>
                  <a:spcPts val="379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Lin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ea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rRegressio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n (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fallba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c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k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33589" y="2846060"/>
              <a:ext cx="7767206" cy="663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6"/>
                </a:lnSpc>
                <a:spcBef>
                  <a:spcPct val="0"/>
                </a:spcBef>
              </a:pPr>
              <a:r>
                <a:rPr lang="en-US" b="true" sz="2812" spc="-56">
                  <a:solidFill>
                    <a:srgbClr val="051D4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Pr</a:t>
              </a:r>
              <a:r>
                <a:rPr lang="en-US" b="true" sz="2812" spc="-56" strike="noStrike" u="none">
                  <a:solidFill>
                    <a:srgbClr val="051D4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edicts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3705104"/>
              <a:ext cx="7111138" cy="1267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4910" indent="-292455" lvl="1">
                <a:lnSpc>
                  <a:spcPts val="379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09" spc="-54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St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ud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en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t–T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opic mast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ery s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co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r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es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33589" y="5158987"/>
              <a:ext cx="7767206" cy="663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6"/>
                </a:lnSpc>
                <a:spcBef>
                  <a:spcPct val="0"/>
                </a:spcBef>
              </a:pPr>
              <a:r>
                <a:rPr lang="en-US" b="true" sz="2812" spc="-56">
                  <a:solidFill>
                    <a:srgbClr val="051D4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Outpu</a:t>
              </a:r>
              <a:r>
                <a:rPr lang="en-US" b="true" sz="2812" spc="-56" strike="noStrike" u="none">
                  <a:solidFill>
                    <a:srgbClr val="051D4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ts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6018030"/>
              <a:ext cx="7834572" cy="1899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4910" indent="-292455" lvl="1">
                <a:lnSpc>
                  <a:spcPts val="379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09" spc="-54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Dictionary: (st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ud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en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t, t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opic) → predicted mast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ery</a:t>
              </a:r>
            </a:p>
            <a:p>
              <a:pPr algn="l" marL="584910" indent="-292455" lvl="1">
                <a:lnSpc>
                  <a:spcPts val="379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Predicted mastery DataFram</a:t>
              </a:r>
              <a:r>
                <a:rPr lang="en-US" sz="2709" spc="-54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e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931149" y="1479993"/>
            <a:ext cx="7300231" cy="7402009"/>
          </a:xfrm>
          <a:custGeom>
            <a:avLst/>
            <a:gdLst/>
            <a:ahLst/>
            <a:cxnLst/>
            <a:rect r="r" b="b" t="t" l="l"/>
            <a:pathLst>
              <a:path h="7402009" w="7300231">
                <a:moveTo>
                  <a:pt x="0" y="0"/>
                </a:moveTo>
                <a:lnTo>
                  <a:pt x="7300231" y="0"/>
                </a:lnTo>
                <a:lnTo>
                  <a:pt x="7300231" y="7402009"/>
                </a:lnTo>
                <a:lnTo>
                  <a:pt x="0" y="74020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41503" y="-4320356"/>
            <a:ext cx="5924489" cy="592448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20741" y="2423447"/>
            <a:ext cx="9052786" cy="6834853"/>
          </a:xfrm>
          <a:custGeom>
            <a:avLst/>
            <a:gdLst/>
            <a:ahLst/>
            <a:cxnLst/>
            <a:rect r="r" b="b" t="t" l="l"/>
            <a:pathLst>
              <a:path h="6834853" w="9052786">
                <a:moveTo>
                  <a:pt x="0" y="0"/>
                </a:moveTo>
                <a:lnTo>
                  <a:pt x="9052786" y="0"/>
                </a:lnTo>
                <a:lnTo>
                  <a:pt x="9052786" y="6834853"/>
                </a:lnTo>
                <a:lnTo>
                  <a:pt x="0" y="6834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651554" y="8631940"/>
            <a:ext cx="7110228" cy="7182429"/>
            <a:chOff x="0" y="0"/>
            <a:chExt cx="80462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4629" cy="812800"/>
            </a:xfrm>
            <a:custGeom>
              <a:avLst/>
              <a:gdLst/>
              <a:ahLst/>
              <a:cxnLst/>
              <a:rect r="r" b="b" t="t" l="l"/>
              <a:pathLst>
                <a:path h="812800" w="804629">
                  <a:moveTo>
                    <a:pt x="402315" y="0"/>
                  </a:moveTo>
                  <a:cubicBezTo>
                    <a:pt x="180122" y="0"/>
                    <a:pt x="0" y="181951"/>
                    <a:pt x="0" y="406400"/>
                  </a:cubicBezTo>
                  <a:cubicBezTo>
                    <a:pt x="0" y="630849"/>
                    <a:pt x="180122" y="812800"/>
                    <a:pt x="402315" y="812800"/>
                  </a:cubicBezTo>
                  <a:cubicBezTo>
                    <a:pt x="624507" y="812800"/>
                    <a:pt x="804629" y="630849"/>
                    <a:pt x="804629" y="406400"/>
                  </a:cubicBezTo>
                  <a:cubicBezTo>
                    <a:pt x="804629" y="181951"/>
                    <a:pt x="624507" y="0"/>
                    <a:pt x="402315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5434" y="9525"/>
              <a:ext cx="653761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53711" y="3571685"/>
            <a:ext cx="6369378" cy="2678384"/>
            <a:chOff x="0" y="0"/>
            <a:chExt cx="2106826" cy="8859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6826" cy="885940"/>
            </a:xfrm>
            <a:custGeom>
              <a:avLst/>
              <a:gdLst/>
              <a:ahLst/>
              <a:cxnLst/>
              <a:rect r="r" b="b" t="t" l="l"/>
              <a:pathLst>
                <a:path h="885940" w="2106826">
                  <a:moveTo>
                    <a:pt x="0" y="0"/>
                  </a:moveTo>
                  <a:lnTo>
                    <a:pt x="2106826" y="0"/>
                  </a:lnTo>
                  <a:lnTo>
                    <a:pt x="2106826" y="885940"/>
                  </a:lnTo>
                  <a:lnTo>
                    <a:pt x="0" y="885940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06826" cy="924040"/>
            </a:xfrm>
            <a:prstGeom prst="rect">
              <a:avLst/>
            </a:prstGeom>
          </p:spPr>
          <p:txBody>
            <a:bodyPr anchor="ctr" rtlCol="false" tIns="43006" lIns="43006" bIns="43006" rIns="4300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53711" y="6669169"/>
            <a:ext cx="6369378" cy="2589131"/>
            <a:chOff x="0" y="0"/>
            <a:chExt cx="2106826" cy="8564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6826" cy="856418"/>
            </a:xfrm>
            <a:custGeom>
              <a:avLst/>
              <a:gdLst/>
              <a:ahLst/>
              <a:cxnLst/>
              <a:rect r="r" b="b" t="t" l="l"/>
              <a:pathLst>
                <a:path h="856418" w="2106826">
                  <a:moveTo>
                    <a:pt x="0" y="0"/>
                  </a:moveTo>
                  <a:lnTo>
                    <a:pt x="2106826" y="0"/>
                  </a:lnTo>
                  <a:lnTo>
                    <a:pt x="2106826" y="856418"/>
                  </a:lnTo>
                  <a:lnTo>
                    <a:pt x="0" y="856418"/>
                  </a:lnTo>
                  <a:close/>
                </a:path>
              </a:pathLst>
            </a:custGeom>
            <a:solidFill>
              <a:srgbClr val="4B7B96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06826" cy="894518"/>
            </a:xfrm>
            <a:prstGeom prst="rect">
              <a:avLst/>
            </a:prstGeom>
          </p:spPr>
          <p:txBody>
            <a:bodyPr anchor="ctr" rtlCol="false" tIns="43006" lIns="43006" bIns="43006" rIns="4300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153711" y="305503"/>
            <a:ext cx="1095719" cy="1298630"/>
          </a:xfrm>
          <a:custGeom>
            <a:avLst/>
            <a:gdLst/>
            <a:ahLst/>
            <a:cxnLst/>
            <a:rect r="r" b="b" t="t" l="l"/>
            <a:pathLst>
              <a:path h="1298630" w="1095719">
                <a:moveTo>
                  <a:pt x="0" y="0"/>
                </a:moveTo>
                <a:lnTo>
                  <a:pt x="1095718" y="0"/>
                </a:lnTo>
                <a:lnTo>
                  <a:pt x="1095718" y="1298630"/>
                </a:lnTo>
                <a:lnTo>
                  <a:pt x="0" y="12986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153711" y="1568860"/>
            <a:ext cx="7616236" cy="1735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99"/>
              </a:lnSpc>
              <a:spcBef>
                <a:spcPct val="0"/>
              </a:spcBef>
            </a:pPr>
            <a:r>
              <a:rPr lang="en-US" b="true" sz="4785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Recommend</a:t>
            </a:r>
            <a:r>
              <a:rPr lang="en-US" b="true" sz="4785" strike="noStrike" u="none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ation Engine </a:t>
            </a:r>
          </a:p>
          <a:p>
            <a:pPr algn="l" marL="0" indent="0" lvl="0">
              <a:lnSpc>
                <a:spcPts val="6699"/>
              </a:lnSpc>
              <a:spcBef>
                <a:spcPct val="0"/>
              </a:spcBef>
            </a:pPr>
            <a:r>
              <a:rPr lang="en-US" b="true" sz="4785" strike="noStrike" u="none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(recommendations.py)py)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60984" y="3804813"/>
            <a:ext cx="5754831" cy="52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3"/>
              </a:lnSpc>
              <a:spcBef>
                <a:spcPct val="0"/>
              </a:spcBef>
            </a:pPr>
            <a:r>
              <a:rPr lang="en-US" b="true" sz="2830" spc="-56" strike="noStrike" u="none">
                <a:solidFill>
                  <a:srgbClr val="FDFDF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Logic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60984" y="4664386"/>
            <a:ext cx="5754831" cy="125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3258" indent="-251629" lvl="1">
              <a:lnSpc>
                <a:spcPts val="3263"/>
              </a:lnSpc>
              <a:buFont typeface="Arial"/>
              <a:buChar char="•"/>
            </a:pPr>
            <a:r>
              <a:rPr lang="en-US" sz="2330" spc="-46">
                <a:solidFill>
                  <a:srgbClr val="FDFDFD"/>
                </a:solidFill>
                <a:latin typeface="Codec Pro"/>
                <a:ea typeface="Codec Pro"/>
                <a:cs typeface="Codec Pro"/>
                <a:sym typeface="Codec Pro"/>
              </a:rPr>
              <a:t>Combine predicted mastery + clusters</a:t>
            </a:r>
          </a:p>
          <a:p>
            <a:pPr algn="l" marL="503258" indent="-251629" lvl="1">
              <a:lnSpc>
                <a:spcPts val="3263"/>
              </a:lnSpc>
              <a:buFont typeface="Arial"/>
              <a:buChar char="•"/>
            </a:pPr>
            <a:r>
              <a:rPr lang="en-US" sz="2330" spc="-46">
                <a:solidFill>
                  <a:srgbClr val="FDFDFD"/>
                </a:solidFill>
                <a:latin typeface="Codec Pro"/>
                <a:ea typeface="Codec Pro"/>
                <a:cs typeface="Codec Pro"/>
                <a:sym typeface="Codec Pro"/>
              </a:rPr>
              <a:t>Detect at-risk learners</a:t>
            </a:r>
          </a:p>
          <a:p>
            <a:pPr algn="l" marL="503258" indent="-251629" lvl="1">
              <a:lnSpc>
                <a:spcPts val="3263"/>
              </a:lnSpc>
              <a:spcBef>
                <a:spcPct val="0"/>
              </a:spcBef>
              <a:buFont typeface="Arial"/>
              <a:buChar char="•"/>
            </a:pPr>
            <a:r>
              <a:rPr lang="en-US" sz="2330" spc="-46">
                <a:solidFill>
                  <a:srgbClr val="FDFDFD"/>
                </a:solidFill>
                <a:latin typeface="Codec Pro"/>
                <a:ea typeface="Codec Pro"/>
                <a:cs typeface="Codec Pro"/>
                <a:sym typeface="Codec Pro"/>
              </a:rPr>
              <a:t>Suggest targeted tut</a:t>
            </a:r>
            <a:r>
              <a:rPr lang="en-US" sz="2330" spc="-46" strike="noStrike" u="none">
                <a:solidFill>
                  <a:srgbClr val="FDFDFD"/>
                </a:solidFill>
                <a:latin typeface="Codec Pro"/>
                <a:ea typeface="Codec Pro"/>
                <a:cs typeface="Codec Pro"/>
                <a:sym typeface="Codec Pro"/>
              </a:rPr>
              <a:t>oring sessions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60984" y="7052360"/>
            <a:ext cx="5754831" cy="52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3"/>
              </a:lnSpc>
              <a:spcBef>
                <a:spcPct val="0"/>
              </a:spcBef>
            </a:pPr>
            <a:r>
              <a:rPr lang="en-US" b="true" sz="2830" spc="-56">
                <a:solidFill>
                  <a:srgbClr val="FDFDF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Outputs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60984" y="7911933"/>
            <a:ext cx="5754831" cy="84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3258" indent="-251629" lvl="1">
              <a:lnSpc>
                <a:spcPts val="3263"/>
              </a:lnSpc>
              <a:buFont typeface="Arial"/>
              <a:buChar char="•"/>
            </a:pPr>
            <a:r>
              <a:rPr lang="en-US" sz="2330" spc="-46">
                <a:solidFill>
                  <a:srgbClr val="FDFDFD"/>
                </a:solidFill>
                <a:latin typeface="Codec Pro"/>
                <a:ea typeface="Codec Pro"/>
                <a:cs typeface="Codec Pro"/>
                <a:sym typeface="Codec Pro"/>
              </a:rPr>
              <a:t>Individual student alerts</a:t>
            </a:r>
          </a:p>
          <a:p>
            <a:pPr algn="l" marL="503258" indent="-251629" lvl="1">
              <a:lnSpc>
                <a:spcPts val="3263"/>
              </a:lnSpc>
              <a:spcBef>
                <a:spcPct val="0"/>
              </a:spcBef>
              <a:buFont typeface="Arial"/>
              <a:buChar char="•"/>
            </a:pPr>
            <a:r>
              <a:rPr lang="en-US" sz="2330" spc="-46">
                <a:solidFill>
                  <a:srgbClr val="FDFDFD"/>
                </a:solidFill>
                <a:latin typeface="Codec Pro"/>
                <a:ea typeface="Codec Pro"/>
                <a:cs typeface="Codec Pro"/>
                <a:sym typeface="Codec Pro"/>
              </a:rPr>
              <a:t>Clus</a:t>
            </a:r>
            <a:r>
              <a:rPr lang="en-US" sz="2330" spc="-46">
                <a:solidFill>
                  <a:srgbClr val="FDFDFD"/>
                </a:solidFill>
                <a:latin typeface="Codec Pro"/>
                <a:ea typeface="Codec Pro"/>
                <a:cs typeface="Codec Pro"/>
                <a:sym typeface="Codec Pro"/>
              </a:rPr>
              <a:t>ter-based recommendat</a:t>
            </a:r>
            <a:r>
              <a:rPr lang="en-US" sz="2330" spc="-46" strike="noStrike" u="none">
                <a:solidFill>
                  <a:srgbClr val="FDFDFD"/>
                </a:solidFill>
                <a:latin typeface="Codec Pro"/>
                <a:ea typeface="Codec Pro"/>
                <a:cs typeface="Codec Pro"/>
                <a:sym typeface="Codec Pro"/>
              </a:rPr>
              <a:t>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609" y="4425538"/>
            <a:ext cx="6331056" cy="4832762"/>
            <a:chOff x="0" y="0"/>
            <a:chExt cx="1363565" cy="1040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3565" cy="1040867"/>
            </a:xfrm>
            <a:custGeom>
              <a:avLst/>
              <a:gdLst/>
              <a:ahLst/>
              <a:cxnLst/>
              <a:rect r="r" b="b" t="t" l="l"/>
              <a:pathLst>
                <a:path h="1040867" w="1363565">
                  <a:moveTo>
                    <a:pt x="53805" y="0"/>
                  </a:moveTo>
                  <a:lnTo>
                    <a:pt x="1309760" y="0"/>
                  </a:lnTo>
                  <a:cubicBezTo>
                    <a:pt x="1339476" y="0"/>
                    <a:pt x="1363565" y="24089"/>
                    <a:pt x="1363565" y="53805"/>
                  </a:cubicBezTo>
                  <a:lnTo>
                    <a:pt x="1363565" y="987061"/>
                  </a:lnTo>
                  <a:cubicBezTo>
                    <a:pt x="1363565" y="1016777"/>
                    <a:pt x="1339476" y="1040867"/>
                    <a:pt x="1309760" y="1040867"/>
                  </a:cubicBezTo>
                  <a:lnTo>
                    <a:pt x="53805" y="1040867"/>
                  </a:lnTo>
                  <a:cubicBezTo>
                    <a:pt x="24089" y="1040867"/>
                    <a:pt x="0" y="1016777"/>
                    <a:pt x="0" y="987061"/>
                  </a:cubicBezTo>
                  <a:lnTo>
                    <a:pt x="0" y="53805"/>
                  </a:lnTo>
                  <a:cubicBezTo>
                    <a:pt x="0" y="24089"/>
                    <a:pt x="24089" y="0"/>
                    <a:pt x="53805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363565" cy="1107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06808" y="-389744"/>
            <a:ext cx="10452617" cy="11336311"/>
            <a:chOff x="0" y="0"/>
            <a:chExt cx="2187174" cy="23720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7174" cy="2372084"/>
            </a:xfrm>
            <a:custGeom>
              <a:avLst/>
              <a:gdLst/>
              <a:ahLst/>
              <a:cxnLst/>
              <a:rect r="r" b="b" t="t" l="l"/>
              <a:pathLst>
                <a:path h="2372084" w="2187174">
                  <a:moveTo>
                    <a:pt x="32589" y="0"/>
                  </a:moveTo>
                  <a:lnTo>
                    <a:pt x="2154584" y="0"/>
                  </a:lnTo>
                  <a:cubicBezTo>
                    <a:pt x="2163227" y="0"/>
                    <a:pt x="2171517" y="3434"/>
                    <a:pt x="2177629" y="9545"/>
                  </a:cubicBezTo>
                  <a:cubicBezTo>
                    <a:pt x="2183740" y="15657"/>
                    <a:pt x="2187174" y="23946"/>
                    <a:pt x="2187174" y="32589"/>
                  </a:cubicBezTo>
                  <a:lnTo>
                    <a:pt x="2187174" y="2339494"/>
                  </a:lnTo>
                  <a:cubicBezTo>
                    <a:pt x="2187174" y="2357493"/>
                    <a:pt x="2172583" y="2372084"/>
                    <a:pt x="2154584" y="2372084"/>
                  </a:cubicBezTo>
                  <a:lnTo>
                    <a:pt x="32589" y="2372084"/>
                  </a:lnTo>
                  <a:cubicBezTo>
                    <a:pt x="14591" y="2372084"/>
                    <a:pt x="0" y="2357493"/>
                    <a:pt x="0" y="2339494"/>
                  </a:cubicBezTo>
                  <a:lnTo>
                    <a:pt x="0" y="32589"/>
                  </a:lnTo>
                  <a:cubicBezTo>
                    <a:pt x="0" y="14591"/>
                    <a:pt x="14591" y="0"/>
                    <a:pt x="32589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87174" cy="2438758"/>
            </a:xfrm>
            <a:prstGeom prst="rect">
              <a:avLst/>
            </a:prstGeom>
          </p:spPr>
          <p:txBody>
            <a:bodyPr anchor="ctr" rtlCol="false" tIns="46238" lIns="46238" bIns="46238" rIns="46238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04046" y="295767"/>
            <a:ext cx="9414439" cy="4248266"/>
          </a:xfrm>
          <a:custGeom>
            <a:avLst/>
            <a:gdLst/>
            <a:ahLst/>
            <a:cxnLst/>
            <a:rect r="r" b="b" t="t" l="l"/>
            <a:pathLst>
              <a:path h="4248266" w="9414439">
                <a:moveTo>
                  <a:pt x="0" y="0"/>
                </a:moveTo>
                <a:lnTo>
                  <a:pt x="9414439" y="0"/>
                </a:lnTo>
                <a:lnTo>
                  <a:pt x="9414439" y="4248266"/>
                </a:lnTo>
                <a:lnTo>
                  <a:pt x="0" y="4248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04046" y="5803067"/>
            <a:ext cx="9414439" cy="3789312"/>
          </a:xfrm>
          <a:custGeom>
            <a:avLst/>
            <a:gdLst/>
            <a:ahLst/>
            <a:cxnLst/>
            <a:rect r="r" b="b" t="t" l="l"/>
            <a:pathLst>
              <a:path h="3789312" w="9414439">
                <a:moveTo>
                  <a:pt x="0" y="0"/>
                </a:moveTo>
                <a:lnTo>
                  <a:pt x="9414439" y="0"/>
                </a:lnTo>
                <a:lnTo>
                  <a:pt x="9414439" y="3789312"/>
                </a:lnTo>
                <a:lnTo>
                  <a:pt x="0" y="37893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2903847" y="4697186"/>
            <a:ext cx="1007469" cy="921376"/>
          </a:xfrm>
          <a:custGeom>
            <a:avLst/>
            <a:gdLst/>
            <a:ahLst/>
            <a:cxnLst/>
            <a:rect r="r" b="b" t="t" l="l"/>
            <a:pathLst>
              <a:path h="921376" w="1007469">
                <a:moveTo>
                  <a:pt x="0" y="0"/>
                </a:moveTo>
                <a:lnTo>
                  <a:pt x="1007469" y="0"/>
                </a:lnTo>
                <a:lnTo>
                  <a:pt x="1007469" y="921377"/>
                </a:lnTo>
                <a:lnTo>
                  <a:pt x="0" y="9213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7609" y="708050"/>
            <a:ext cx="1613661" cy="1280844"/>
          </a:xfrm>
          <a:custGeom>
            <a:avLst/>
            <a:gdLst/>
            <a:ahLst/>
            <a:cxnLst/>
            <a:rect r="r" b="b" t="t" l="l"/>
            <a:pathLst>
              <a:path h="1280844" w="1613661">
                <a:moveTo>
                  <a:pt x="0" y="0"/>
                </a:moveTo>
                <a:lnTo>
                  <a:pt x="1613661" y="0"/>
                </a:lnTo>
                <a:lnTo>
                  <a:pt x="1613661" y="1280844"/>
                </a:lnTo>
                <a:lnTo>
                  <a:pt x="0" y="1280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7609" y="2267500"/>
            <a:ext cx="6609551" cy="15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6"/>
              </a:lnSpc>
              <a:spcBef>
                <a:spcPct val="0"/>
              </a:spcBef>
            </a:pPr>
            <a:r>
              <a:rPr lang="en-US" b="true" sz="4347">
                <a:solidFill>
                  <a:srgbClr val="FDFDF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Dashboard Generator (dashboard.py)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48524" y="4908973"/>
            <a:ext cx="5589224" cy="3865892"/>
            <a:chOff x="0" y="0"/>
            <a:chExt cx="7452299" cy="515452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306884" y="-95250"/>
              <a:ext cx="7145414" cy="609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21"/>
                </a:lnSpc>
                <a:spcBef>
                  <a:spcPct val="0"/>
                </a:spcBef>
              </a:pPr>
              <a:r>
                <a:rPr lang="en-US" b="true" sz="2587" spc="-51">
                  <a:solidFill>
                    <a:srgbClr val="051D4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Visualizati</a:t>
              </a:r>
              <a:r>
                <a:rPr lang="en-US" b="true" sz="2587" spc="-51" strike="noStrike" u="none">
                  <a:solidFill>
                    <a:srgbClr val="051D4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ons Produced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701095"/>
              <a:ext cx="6541866" cy="2327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8086" indent="-269043" lvl="1">
                <a:lnSpc>
                  <a:spcPts val="348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2" spc="-49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Heatmap: </a:t>
              </a:r>
              <a:r>
                <a:rPr lang="en-US" sz="2492" spc="-49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student × topic </a:t>
              </a:r>
              <a:r>
                <a:rPr lang="en-US" sz="2492" spc="-49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m</a:t>
              </a:r>
              <a:r>
                <a:rPr lang="en-US" sz="2492" spc="-49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astery</a:t>
              </a:r>
            </a:p>
            <a:p>
              <a:pPr algn="l" marL="538086" indent="-269043" lvl="1">
                <a:lnSpc>
                  <a:spcPts val="348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2" spc="-49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Top</a:t>
              </a:r>
              <a:r>
                <a:rPr lang="en-US" sz="2492" spc="-49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ic difficulty ranking ch</a:t>
              </a:r>
              <a:r>
                <a:rPr lang="en-US" sz="2492" spc="-49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a</a:t>
              </a:r>
              <a:r>
                <a:rPr lang="en-US" sz="2492" spc="-49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rt</a:t>
              </a:r>
            </a:p>
            <a:p>
              <a:pPr algn="l" marL="538086" indent="-269043" lvl="1">
                <a:lnSpc>
                  <a:spcPts val="348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2" spc="-49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PCA scatterplot</a:t>
              </a:r>
              <a:r>
                <a:rPr lang="en-US" sz="2492" spc="-49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 </a:t>
              </a:r>
              <a:r>
                <a:rPr lang="en-US" sz="2492" spc="-49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for </a:t>
              </a:r>
              <a:r>
                <a:rPr lang="en-US" sz="2492" spc="-49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clusters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53442" y="3199997"/>
              <a:ext cx="7145414" cy="609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21"/>
                </a:lnSpc>
                <a:spcBef>
                  <a:spcPct val="0"/>
                </a:spcBef>
              </a:pPr>
              <a:r>
                <a:rPr lang="en-US" b="true" sz="2587" spc="-51">
                  <a:solidFill>
                    <a:srgbClr val="051D4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Expor</a:t>
              </a:r>
              <a:r>
                <a:rPr lang="en-US" b="true" sz="2587" spc="-51" strike="noStrike" u="none">
                  <a:solidFill>
                    <a:srgbClr val="051D40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t Format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06884" y="3990137"/>
              <a:ext cx="6541866" cy="11643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8086" indent="-269043" lvl="1">
                <a:lnSpc>
                  <a:spcPts val="348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2" spc="-49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PNG image file</a:t>
              </a:r>
              <a:r>
                <a:rPr lang="en-US" sz="2492" spc="-49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s for e</a:t>
              </a:r>
              <a:r>
                <a:rPr lang="en-US" sz="2492" spc="-49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mb</a:t>
              </a:r>
              <a:r>
                <a:rPr lang="en-US" sz="2492" spc="-49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edding in repor</a:t>
              </a:r>
              <a:r>
                <a:rPr lang="en-US" sz="2492" spc="-49" strike="noStrike" u="none">
                  <a:solidFill>
                    <a:srgbClr val="051D40"/>
                  </a:solidFill>
                  <a:latin typeface="Codec Pro"/>
                  <a:ea typeface="Codec Pro"/>
                  <a:cs typeface="Codec Pro"/>
                  <a:sym typeface="Codec Pro"/>
                </a:rPr>
                <a:t>ts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09862"/>
            <a:ext cx="18288000" cy="876598"/>
            <a:chOff x="0" y="0"/>
            <a:chExt cx="3826700" cy="183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26700" cy="183425"/>
            </a:xfrm>
            <a:custGeom>
              <a:avLst/>
              <a:gdLst/>
              <a:ahLst/>
              <a:cxnLst/>
              <a:rect r="r" b="b" t="t" l="l"/>
              <a:pathLst>
                <a:path h="183425" w="3826700">
                  <a:moveTo>
                    <a:pt x="0" y="0"/>
                  </a:moveTo>
                  <a:lnTo>
                    <a:pt x="3826700" y="0"/>
                  </a:lnTo>
                  <a:lnTo>
                    <a:pt x="3826700" y="183425"/>
                  </a:lnTo>
                  <a:lnTo>
                    <a:pt x="0" y="18342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3826700" cy="250100"/>
            </a:xfrm>
            <a:prstGeom prst="rect">
              <a:avLst/>
            </a:prstGeom>
          </p:spPr>
          <p:txBody>
            <a:bodyPr anchor="ctr" rtlCol="false" tIns="46238" lIns="46238" bIns="46238" rIns="46238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5436" y="1028700"/>
            <a:ext cx="8291021" cy="4000418"/>
          </a:xfrm>
          <a:custGeom>
            <a:avLst/>
            <a:gdLst/>
            <a:ahLst/>
            <a:cxnLst/>
            <a:rect r="r" b="b" t="t" l="l"/>
            <a:pathLst>
              <a:path h="4000418" w="8291021">
                <a:moveTo>
                  <a:pt x="0" y="0"/>
                </a:moveTo>
                <a:lnTo>
                  <a:pt x="8291021" y="0"/>
                </a:lnTo>
                <a:lnTo>
                  <a:pt x="8291021" y="4000418"/>
                </a:lnTo>
                <a:lnTo>
                  <a:pt x="0" y="4000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5436" y="5751088"/>
            <a:ext cx="8291021" cy="4197329"/>
          </a:xfrm>
          <a:custGeom>
            <a:avLst/>
            <a:gdLst/>
            <a:ahLst/>
            <a:cxnLst/>
            <a:rect r="r" b="b" t="t" l="l"/>
            <a:pathLst>
              <a:path h="4197329" w="8291021">
                <a:moveTo>
                  <a:pt x="0" y="0"/>
                </a:moveTo>
                <a:lnTo>
                  <a:pt x="8291021" y="0"/>
                </a:lnTo>
                <a:lnTo>
                  <a:pt x="8291021" y="4197330"/>
                </a:lnTo>
                <a:lnTo>
                  <a:pt x="0" y="4197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1261446"/>
            <a:ext cx="8867934" cy="3174890"/>
          </a:xfrm>
          <a:custGeom>
            <a:avLst/>
            <a:gdLst/>
            <a:ahLst/>
            <a:cxnLst/>
            <a:rect r="r" b="b" t="t" l="l"/>
            <a:pathLst>
              <a:path h="3174890" w="8867934">
                <a:moveTo>
                  <a:pt x="0" y="0"/>
                </a:moveTo>
                <a:lnTo>
                  <a:pt x="8867934" y="0"/>
                </a:lnTo>
                <a:lnTo>
                  <a:pt x="8867934" y="3174890"/>
                </a:lnTo>
                <a:lnTo>
                  <a:pt x="0" y="3174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0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1179" y="5405056"/>
            <a:ext cx="8843527" cy="4543362"/>
          </a:xfrm>
          <a:custGeom>
            <a:avLst/>
            <a:gdLst/>
            <a:ahLst/>
            <a:cxnLst/>
            <a:rect r="r" b="b" t="t" l="l"/>
            <a:pathLst>
              <a:path h="4543362" w="8843527">
                <a:moveTo>
                  <a:pt x="0" y="0"/>
                </a:moveTo>
                <a:lnTo>
                  <a:pt x="8843528" y="0"/>
                </a:lnTo>
                <a:lnTo>
                  <a:pt x="8843528" y="4543362"/>
                </a:lnTo>
                <a:lnTo>
                  <a:pt x="0" y="4543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4144914" y="5088593"/>
            <a:ext cx="692066" cy="632925"/>
          </a:xfrm>
          <a:custGeom>
            <a:avLst/>
            <a:gdLst/>
            <a:ahLst/>
            <a:cxnLst/>
            <a:rect r="r" b="b" t="t" l="l"/>
            <a:pathLst>
              <a:path h="632925" w="692066">
                <a:moveTo>
                  <a:pt x="0" y="0"/>
                </a:moveTo>
                <a:lnTo>
                  <a:pt x="692065" y="0"/>
                </a:lnTo>
                <a:lnTo>
                  <a:pt x="692065" y="632925"/>
                </a:lnTo>
                <a:lnTo>
                  <a:pt x="0" y="6329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3142495" y="4522437"/>
            <a:ext cx="870944" cy="796518"/>
          </a:xfrm>
          <a:custGeom>
            <a:avLst/>
            <a:gdLst/>
            <a:ahLst/>
            <a:cxnLst/>
            <a:rect r="r" b="b" t="t" l="l"/>
            <a:pathLst>
              <a:path h="796518" w="870944">
                <a:moveTo>
                  <a:pt x="0" y="0"/>
                </a:moveTo>
                <a:lnTo>
                  <a:pt x="870944" y="0"/>
                </a:lnTo>
                <a:lnTo>
                  <a:pt x="870944" y="796518"/>
                </a:lnTo>
                <a:lnTo>
                  <a:pt x="0" y="7965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679387" y="802602"/>
            <a:ext cx="9579913" cy="8681797"/>
          </a:xfrm>
          <a:custGeom>
            <a:avLst/>
            <a:gdLst/>
            <a:ahLst/>
            <a:cxnLst/>
            <a:rect r="r" b="b" t="t" l="l"/>
            <a:pathLst>
              <a:path h="8681797" w="9579913">
                <a:moveTo>
                  <a:pt x="0" y="0"/>
                </a:moveTo>
                <a:lnTo>
                  <a:pt x="9579913" y="0"/>
                </a:lnTo>
                <a:lnTo>
                  <a:pt x="9579913" y="8681796"/>
                </a:lnTo>
                <a:lnTo>
                  <a:pt x="0" y="868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656566"/>
            <a:ext cx="1410776" cy="1527227"/>
          </a:xfrm>
          <a:custGeom>
            <a:avLst/>
            <a:gdLst/>
            <a:ahLst/>
            <a:cxnLst/>
            <a:rect r="r" b="b" t="t" l="l"/>
            <a:pathLst>
              <a:path h="1527227" w="1410776">
                <a:moveTo>
                  <a:pt x="0" y="0"/>
                </a:moveTo>
                <a:lnTo>
                  <a:pt x="1410776" y="0"/>
                </a:lnTo>
                <a:lnTo>
                  <a:pt x="1410776" y="1527228"/>
                </a:lnTo>
                <a:lnTo>
                  <a:pt x="0" y="15272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145694"/>
            <a:ext cx="6771340" cy="2092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1"/>
              </a:lnSpc>
              <a:spcBef>
                <a:spcPct val="0"/>
              </a:spcBef>
            </a:pPr>
            <a:r>
              <a:rPr lang="en-US" b="true" sz="5729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Report Generator (reports.py)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728107"/>
            <a:ext cx="5768964" cy="62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70"/>
              </a:lnSpc>
            </a:pPr>
            <a:r>
              <a:rPr lang="en-US" b="true" sz="3336" spc="-66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Exports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400796"/>
            <a:ext cx="5768964" cy="362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1562" indent="-310781" lvl="1">
              <a:lnSpc>
                <a:spcPts val="4030"/>
              </a:lnSpc>
              <a:buFont typeface="Arial"/>
              <a:buChar char="•"/>
            </a:pPr>
            <a:r>
              <a:rPr lang="en-US" sz="2878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CSV: progress results</a:t>
            </a:r>
          </a:p>
          <a:p>
            <a:pPr algn="just" marL="621562" indent="-310781" lvl="1">
              <a:lnSpc>
                <a:spcPts val="4030"/>
              </a:lnSpc>
              <a:buFont typeface="Arial"/>
              <a:buChar char="•"/>
            </a:pPr>
            <a:r>
              <a:rPr lang="en-US" sz="2878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CSV: difficulty scores</a:t>
            </a:r>
          </a:p>
          <a:p>
            <a:pPr algn="just" marL="621562" indent="-310781" lvl="1">
              <a:lnSpc>
                <a:spcPts val="4030"/>
              </a:lnSpc>
              <a:buFont typeface="Arial"/>
              <a:buChar char="•"/>
            </a:pPr>
            <a:r>
              <a:rPr lang="en-US" sz="2878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PDF combining:</a:t>
            </a:r>
          </a:p>
          <a:p>
            <a:pPr algn="just" marL="1243125" indent="-414375" lvl="2">
              <a:lnSpc>
                <a:spcPts val="4030"/>
              </a:lnSpc>
              <a:buFont typeface="Arial"/>
              <a:buChar char="⚬"/>
            </a:pPr>
            <a:r>
              <a:rPr lang="en-US" sz="2878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Tables</a:t>
            </a:r>
          </a:p>
          <a:p>
            <a:pPr algn="just" marL="1243125" indent="-414375" lvl="2">
              <a:lnSpc>
                <a:spcPts val="4030"/>
              </a:lnSpc>
              <a:buFont typeface="Arial"/>
              <a:buChar char="⚬"/>
            </a:pPr>
            <a:r>
              <a:rPr lang="en-US" sz="2878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Insights</a:t>
            </a:r>
          </a:p>
          <a:p>
            <a:pPr algn="just" marL="1243125" indent="-414375" lvl="2">
              <a:lnSpc>
                <a:spcPts val="4030"/>
              </a:lnSpc>
              <a:buFont typeface="Arial"/>
              <a:buChar char="⚬"/>
            </a:pPr>
            <a:r>
              <a:rPr lang="en-US" sz="2878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Alerts</a:t>
            </a:r>
          </a:p>
          <a:p>
            <a:pPr algn="just" marL="1243125" indent="-414375" lvl="2">
              <a:lnSpc>
                <a:spcPts val="4030"/>
              </a:lnSpc>
              <a:buFont typeface="Arial"/>
              <a:buChar char="⚬"/>
            </a:pPr>
            <a:r>
              <a:rPr lang="en-US" sz="2878" spc="-57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Recommendations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21103"/>
            <a:ext cx="8115300" cy="8644794"/>
          </a:xfrm>
          <a:custGeom>
            <a:avLst/>
            <a:gdLst/>
            <a:ahLst/>
            <a:cxnLst/>
            <a:rect r="r" b="b" t="t" l="l"/>
            <a:pathLst>
              <a:path h="8644794" w="8115300">
                <a:moveTo>
                  <a:pt x="0" y="0"/>
                </a:moveTo>
                <a:lnTo>
                  <a:pt x="8115300" y="0"/>
                </a:lnTo>
                <a:lnTo>
                  <a:pt x="8115300" y="8644794"/>
                </a:lnTo>
                <a:lnTo>
                  <a:pt x="0" y="8644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93705" y="821103"/>
            <a:ext cx="1678592" cy="1678592"/>
          </a:xfrm>
          <a:custGeom>
            <a:avLst/>
            <a:gdLst/>
            <a:ahLst/>
            <a:cxnLst/>
            <a:rect r="r" b="b" t="t" l="l"/>
            <a:pathLst>
              <a:path h="1678592" w="1678592">
                <a:moveTo>
                  <a:pt x="0" y="0"/>
                </a:moveTo>
                <a:lnTo>
                  <a:pt x="1678592" y="0"/>
                </a:lnTo>
                <a:lnTo>
                  <a:pt x="1678592" y="1678592"/>
                </a:lnTo>
                <a:lnTo>
                  <a:pt x="0" y="16785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56659" y="7581606"/>
            <a:ext cx="2752346" cy="2106796"/>
          </a:xfrm>
          <a:custGeom>
            <a:avLst/>
            <a:gdLst/>
            <a:ahLst/>
            <a:cxnLst/>
            <a:rect r="r" b="b" t="t" l="l"/>
            <a:pathLst>
              <a:path h="2106796" w="2752346">
                <a:moveTo>
                  <a:pt x="0" y="0"/>
                </a:moveTo>
                <a:lnTo>
                  <a:pt x="2752346" y="0"/>
                </a:lnTo>
                <a:lnTo>
                  <a:pt x="2752346" y="2106795"/>
                </a:lnTo>
                <a:lnTo>
                  <a:pt x="0" y="21067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593705" y="2448045"/>
            <a:ext cx="8115300" cy="10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1"/>
              </a:lnSpc>
              <a:spcBef>
                <a:spcPct val="0"/>
              </a:spcBef>
            </a:pPr>
            <a:r>
              <a:rPr lang="en-US" b="true" sz="5729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Logging (logger.py)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93705" y="3879930"/>
            <a:ext cx="6201772" cy="66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20"/>
              </a:lnSpc>
            </a:pPr>
            <a:r>
              <a:rPr lang="en-US" b="true" sz="3586" spc="-71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Logs Include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87082" y="4841948"/>
            <a:ext cx="6201772" cy="273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8194" indent="-334097" lvl="1">
              <a:lnSpc>
                <a:spcPts val="4332"/>
              </a:lnSpc>
              <a:buFont typeface="Arial"/>
              <a:buChar char="•"/>
            </a:pPr>
            <a:r>
              <a:rPr lang="en-US" sz="3094" spc="-61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Dataset stats</a:t>
            </a:r>
          </a:p>
          <a:p>
            <a:pPr algn="just" marL="668194" indent="-334097" lvl="1">
              <a:lnSpc>
                <a:spcPts val="4332"/>
              </a:lnSpc>
              <a:buFont typeface="Arial"/>
              <a:buChar char="•"/>
            </a:pPr>
            <a:r>
              <a:rPr lang="en-US" sz="3094" spc="-61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D</a:t>
            </a:r>
            <a:r>
              <a:rPr lang="en-US" sz="3094" spc="-61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ifficulty report</a:t>
            </a:r>
          </a:p>
          <a:p>
            <a:pPr algn="just" marL="668194" indent="-334097" lvl="1">
              <a:lnSpc>
                <a:spcPts val="4332"/>
              </a:lnSpc>
              <a:buFont typeface="Arial"/>
              <a:buChar char="•"/>
            </a:pPr>
            <a:r>
              <a:rPr lang="en-US" sz="3094" spc="-61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C</a:t>
            </a:r>
            <a:r>
              <a:rPr lang="en-US" sz="3094" spc="-61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lustering summary</a:t>
            </a:r>
          </a:p>
          <a:p>
            <a:pPr algn="just" marL="668194" indent="-334097" lvl="1">
              <a:lnSpc>
                <a:spcPts val="4332"/>
              </a:lnSpc>
              <a:buFont typeface="Arial"/>
              <a:buChar char="•"/>
            </a:pPr>
            <a:r>
              <a:rPr lang="en-US" sz="3094" spc="-61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Alerts generated</a:t>
            </a:r>
          </a:p>
          <a:p>
            <a:pPr algn="just" marL="668194" indent="-334097" lvl="1">
              <a:lnSpc>
                <a:spcPts val="4332"/>
              </a:lnSpc>
              <a:buFont typeface="Arial"/>
              <a:buChar char="•"/>
            </a:pPr>
            <a:r>
              <a:rPr lang="en-US" sz="3094" spc="-61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Output fil</a:t>
            </a:r>
            <a:r>
              <a:rPr lang="en-US" sz="3094" spc="-61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es created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66830" y="0"/>
            <a:ext cx="5021170" cy="10287000"/>
            <a:chOff x="0" y="0"/>
            <a:chExt cx="132244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244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22448">
                  <a:moveTo>
                    <a:pt x="0" y="0"/>
                  </a:moveTo>
                  <a:lnTo>
                    <a:pt x="1322448" y="0"/>
                  </a:lnTo>
                  <a:lnTo>
                    <a:pt x="13224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322448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76549" y="1727115"/>
            <a:ext cx="7123033" cy="75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0"/>
              </a:lnSpc>
              <a:spcBef>
                <a:spcPct val="0"/>
              </a:spcBef>
            </a:pPr>
            <a:r>
              <a:rPr lang="en-US" b="true" sz="4135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Main Runn</a:t>
            </a:r>
            <a:r>
              <a:rPr lang="en-US" b="true" sz="4135" strike="noStrike" u="none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er (main.py)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478383" y="-1652313"/>
            <a:ext cx="2956767" cy="29567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758049" y="1130335"/>
            <a:ext cx="10304868" cy="8127965"/>
          </a:xfrm>
          <a:custGeom>
            <a:avLst/>
            <a:gdLst/>
            <a:ahLst/>
            <a:cxnLst/>
            <a:rect r="r" b="b" t="t" l="l"/>
            <a:pathLst>
              <a:path h="8127965" w="10304868">
                <a:moveTo>
                  <a:pt x="0" y="0"/>
                </a:moveTo>
                <a:lnTo>
                  <a:pt x="10304868" y="0"/>
                </a:lnTo>
                <a:lnTo>
                  <a:pt x="10304868" y="8127965"/>
                </a:lnTo>
                <a:lnTo>
                  <a:pt x="0" y="8127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314513" y="7809319"/>
            <a:ext cx="5946973" cy="594697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76549" y="8848617"/>
            <a:ext cx="6193858" cy="574648"/>
          </a:xfrm>
          <a:custGeom>
            <a:avLst/>
            <a:gdLst/>
            <a:ahLst/>
            <a:cxnLst/>
            <a:rect r="r" b="b" t="t" l="l"/>
            <a:pathLst>
              <a:path h="574648" w="6193858">
                <a:moveTo>
                  <a:pt x="0" y="0"/>
                </a:moveTo>
                <a:lnTo>
                  <a:pt x="6193858" y="0"/>
                </a:lnTo>
                <a:lnTo>
                  <a:pt x="6193858" y="574648"/>
                </a:lnTo>
                <a:lnTo>
                  <a:pt x="0" y="574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354" t="-216567" r="-24354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76549" y="7456524"/>
            <a:ext cx="6193858" cy="1425016"/>
            <a:chOff x="0" y="0"/>
            <a:chExt cx="1631304" cy="3753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31304" cy="375313"/>
            </a:xfrm>
            <a:custGeom>
              <a:avLst/>
              <a:gdLst/>
              <a:ahLst/>
              <a:cxnLst/>
              <a:rect r="r" b="b" t="t" l="l"/>
              <a:pathLst>
                <a:path h="375313" w="1631304">
                  <a:moveTo>
                    <a:pt x="17499" y="0"/>
                  </a:moveTo>
                  <a:lnTo>
                    <a:pt x="1613805" y="0"/>
                  </a:lnTo>
                  <a:cubicBezTo>
                    <a:pt x="1618446" y="0"/>
                    <a:pt x="1622897" y="1844"/>
                    <a:pt x="1626179" y="5125"/>
                  </a:cubicBezTo>
                  <a:cubicBezTo>
                    <a:pt x="1629460" y="8407"/>
                    <a:pt x="1631304" y="12858"/>
                    <a:pt x="1631304" y="17499"/>
                  </a:cubicBezTo>
                  <a:lnTo>
                    <a:pt x="1631304" y="357814"/>
                  </a:lnTo>
                  <a:cubicBezTo>
                    <a:pt x="1631304" y="367478"/>
                    <a:pt x="1623470" y="375313"/>
                    <a:pt x="1613805" y="375313"/>
                  </a:cubicBezTo>
                  <a:lnTo>
                    <a:pt x="17499" y="375313"/>
                  </a:lnTo>
                  <a:cubicBezTo>
                    <a:pt x="7835" y="375313"/>
                    <a:pt x="0" y="367478"/>
                    <a:pt x="0" y="357814"/>
                  </a:cubicBezTo>
                  <a:lnTo>
                    <a:pt x="0" y="17499"/>
                  </a:lnTo>
                  <a:cubicBezTo>
                    <a:pt x="0" y="7835"/>
                    <a:pt x="7835" y="0"/>
                    <a:pt x="17499" y="0"/>
                  </a:cubicBez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631304" cy="441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887393" y="6552782"/>
            <a:ext cx="2772169" cy="685553"/>
            <a:chOff x="0" y="0"/>
            <a:chExt cx="1013291" cy="2505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3291" cy="250585"/>
            </a:xfrm>
            <a:custGeom>
              <a:avLst/>
              <a:gdLst/>
              <a:ahLst/>
              <a:cxnLst/>
              <a:rect r="r" b="b" t="t" l="l"/>
              <a:pathLst>
                <a:path h="250585" w="1013291">
                  <a:moveTo>
                    <a:pt x="125293" y="0"/>
                  </a:moveTo>
                  <a:lnTo>
                    <a:pt x="887999" y="0"/>
                  </a:lnTo>
                  <a:cubicBezTo>
                    <a:pt x="921228" y="0"/>
                    <a:pt x="953097" y="13200"/>
                    <a:pt x="976594" y="36697"/>
                  </a:cubicBezTo>
                  <a:cubicBezTo>
                    <a:pt x="1000091" y="60194"/>
                    <a:pt x="1013291" y="92063"/>
                    <a:pt x="1013291" y="125293"/>
                  </a:cubicBezTo>
                  <a:lnTo>
                    <a:pt x="1013291" y="125293"/>
                  </a:lnTo>
                  <a:cubicBezTo>
                    <a:pt x="1013291" y="158522"/>
                    <a:pt x="1000091" y="190391"/>
                    <a:pt x="976594" y="213888"/>
                  </a:cubicBezTo>
                  <a:cubicBezTo>
                    <a:pt x="953097" y="237385"/>
                    <a:pt x="921228" y="250585"/>
                    <a:pt x="887999" y="250585"/>
                  </a:cubicBezTo>
                  <a:lnTo>
                    <a:pt x="125293" y="250585"/>
                  </a:lnTo>
                  <a:cubicBezTo>
                    <a:pt x="92063" y="250585"/>
                    <a:pt x="60194" y="237385"/>
                    <a:pt x="36697" y="213888"/>
                  </a:cubicBezTo>
                  <a:cubicBezTo>
                    <a:pt x="13200" y="190391"/>
                    <a:pt x="0" y="158522"/>
                    <a:pt x="0" y="125293"/>
                  </a:cubicBezTo>
                  <a:lnTo>
                    <a:pt x="0" y="125293"/>
                  </a:lnTo>
                  <a:cubicBezTo>
                    <a:pt x="0" y="92063"/>
                    <a:pt x="13200" y="60194"/>
                    <a:pt x="36697" y="36697"/>
                  </a:cubicBezTo>
                  <a:cubicBezTo>
                    <a:pt x="60194" y="13200"/>
                    <a:pt x="92063" y="0"/>
                    <a:pt x="1252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140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013291" cy="336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480"/>
                </a:lnSpc>
                <a:spcBef>
                  <a:spcPct val="0"/>
                </a:spcBef>
              </a:pPr>
              <a:r>
                <a:rPr lang="en-US" b="true" sz="2486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Fina</a:t>
              </a:r>
              <a:r>
                <a:rPr lang="en-US" b="true" sz="2486" strike="noStrike" u="none">
                  <a:solidFill>
                    <a:srgbClr val="FFFFFF"/>
                  </a:solidFill>
                  <a:latin typeface="Codec Pro Bold"/>
                  <a:ea typeface="Codec Pro Bold"/>
                  <a:cs typeface="Codec Pro Bold"/>
                  <a:sym typeface="Codec Pro Bold"/>
                </a:rPr>
                <a:t>l Output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76549" y="862742"/>
            <a:ext cx="1070816" cy="883423"/>
          </a:xfrm>
          <a:custGeom>
            <a:avLst/>
            <a:gdLst/>
            <a:ahLst/>
            <a:cxnLst/>
            <a:rect r="r" b="b" t="t" l="l"/>
            <a:pathLst>
              <a:path h="883423" w="1070816">
                <a:moveTo>
                  <a:pt x="0" y="0"/>
                </a:moveTo>
                <a:lnTo>
                  <a:pt x="1070815" y="0"/>
                </a:lnTo>
                <a:lnTo>
                  <a:pt x="1070815" y="883423"/>
                </a:lnTo>
                <a:lnTo>
                  <a:pt x="0" y="883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76549" y="2508912"/>
            <a:ext cx="8097576" cy="43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5"/>
              </a:lnSpc>
              <a:spcBef>
                <a:spcPct val="0"/>
              </a:spcBef>
            </a:pPr>
            <a:r>
              <a:rPr lang="en-US" b="true" sz="2275" spc="-45" strike="noStrike" u="none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run_pipeline() executes full workflow: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09132" y="7666965"/>
            <a:ext cx="5351249" cy="90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4"/>
              </a:lnSpc>
              <a:spcBef>
                <a:spcPct val="0"/>
              </a:spcBef>
            </a:pPr>
            <a:r>
              <a:rPr lang="en-US" b="true" sz="2467" spc="-49">
                <a:solidFill>
                  <a:srgbClr val="FDFDF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67" spc="-49" strike="noStrike" u="none">
                <a:solidFill>
                  <a:srgbClr val="FDFDF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dictionary containing all intermediate &amp; final results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3542" y="3081731"/>
            <a:ext cx="3850462" cy="319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3063" indent="-216531" lvl="1">
              <a:lnSpc>
                <a:spcPts val="2808"/>
              </a:lnSpc>
              <a:spcBef>
                <a:spcPct val="0"/>
              </a:spcBef>
              <a:buAutoNum type="arabicPeriod" startAt="1"/>
            </a:pPr>
            <a:r>
              <a:rPr lang="en-US" sz="2005" spc="-40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Load &amp; clea</a:t>
            </a:r>
            <a:r>
              <a:rPr lang="en-US" sz="2005" spc="-40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n data</a:t>
            </a:r>
          </a:p>
          <a:p>
            <a:pPr algn="l" marL="433063" indent="-216531" lvl="1">
              <a:lnSpc>
                <a:spcPts val="2808"/>
              </a:lnSpc>
              <a:spcBef>
                <a:spcPct val="0"/>
              </a:spcBef>
              <a:buAutoNum type="arabicPeriod" startAt="1"/>
            </a:pPr>
            <a:r>
              <a:rPr lang="en-US" sz="2005" spc="-40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Compute topic difficulty</a:t>
            </a:r>
          </a:p>
          <a:p>
            <a:pPr algn="l" marL="433063" indent="-216531" lvl="1">
              <a:lnSpc>
                <a:spcPts val="2808"/>
              </a:lnSpc>
              <a:spcBef>
                <a:spcPct val="0"/>
              </a:spcBef>
              <a:buAutoNum type="arabicPeriod" startAt="1"/>
            </a:pPr>
            <a:r>
              <a:rPr lang="en-US" sz="2005" spc="-40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Calculate student progress</a:t>
            </a:r>
          </a:p>
          <a:p>
            <a:pPr algn="l" marL="433063" indent="-216531" lvl="1">
              <a:lnSpc>
                <a:spcPts val="2808"/>
              </a:lnSpc>
              <a:spcBef>
                <a:spcPct val="0"/>
              </a:spcBef>
              <a:buAutoNum type="arabicPeriod" startAt="1"/>
            </a:pPr>
            <a:r>
              <a:rPr lang="en-US" sz="2005" spc="-40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Cluster students</a:t>
            </a:r>
          </a:p>
          <a:p>
            <a:pPr algn="l" marL="433063" indent="-216531" lvl="1">
              <a:lnSpc>
                <a:spcPts val="2808"/>
              </a:lnSpc>
              <a:spcBef>
                <a:spcPct val="0"/>
              </a:spcBef>
              <a:buAutoNum type="arabicPeriod" startAt="1"/>
            </a:pPr>
            <a:r>
              <a:rPr lang="en-US" sz="2005" spc="-40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Predict mastery</a:t>
            </a:r>
          </a:p>
          <a:p>
            <a:pPr algn="l" marL="433063" indent="-216531" lvl="1">
              <a:lnSpc>
                <a:spcPts val="2808"/>
              </a:lnSpc>
              <a:spcBef>
                <a:spcPct val="0"/>
              </a:spcBef>
              <a:buAutoNum type="arabicPeriod" startAt="1"/>
            </a:pPr>
            <a:r>
              <a:rPr lang="en-US" sz="2005" spc="-40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Generate recommendations</a:t>
            </a:r>
          </a:p>
          <a:p>
            <a:pPr algn="l" marL="433063" indent="-216531" lvl="1">
              <a:lnSpc>
                <a:spcPts val="2808"/>
              </a:lnSpc>
              <a:spcBef>
                <a:spcPct val="0"/>
              </a:spcBef>
              <a:buAutoNum type="arabicPeriod" startAt="1"/>
            </a:pPr>
            <a:r>
              <a:rPr lang="en-US" sz="2005" spc="-40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Produce dashboards</a:t>
            </a:r>
          </a:p>
          <a:p>
            <a:pPr algn="l" marL="433063" indent="-216531" lvl="1">
              <a:lnSpc>
                <a:spcPts val="2808"/>
              </a:lnSpc>
              <a:spcBef>
                <a:spcPct val="0"/>
              </a:spcBef>
              <a:buAutoNum type="arabicPeriod" startAt="1"/>
            </a:pPr>
            <a:r>
              <a:rPr lang="en-US" sz="2005" spc="-40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 Export reports</a:t>
            </a:r>
          </a:p>
          <a:p>
            <a:pPr algn="l" marL="433063" indent="-216531" lvl="1">
              <a:lnSpc>
                <a:spcPts val="2808"/>
              </a:lnSpc>
              <a:spcBef>
                <a:spcPct val="0"/>
              </a:spcBef>
              <a:buAutoNum type="arabicPeriod" startAt="1"/>
            </a:pPr>
            <a:r>
              <a:rPr lang="en-US" sz="2005" spc="-40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 Log summary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40890" y="7896495"/>
            <a:ext cx="5110786" cy="1009380"/>
          </a:xfrm>
          <a:custGeom>
            <a:avLst/>
            <a:gdLst/>
            <a:ahLst/>
            <a:cxnLst/>
            <a:rect r="r" b="b" t="t" l="l"/>
            <a:pathLst>
              <a:path h="1009380" w="5110786">
                <a:moveTo>
                  <a:pt x="0" y="0"/>
                </a:moveTo>
                <a:lnTo>
                  <a:pt x="5110787" y="0"/>
                </a:lnTo>
                <a:lnTo>
                  <a:pt x="5110787" y="1009380"/>
                </a:lnTo>
                <a:lnTo>
                  <a:pt x="0" y="100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83656" y="7896495"/>
            <a:ext cx="5110786" cy="1009380"/>
          </a:xfrm>
          <a:custGeom>
            <a:avLst/>
            <a:gdLst/>
            <a:ahLst/>
            <a:cxnLst/>
            <a:rect r="r" b="b" t="t" l="l"/>
            <a:pathLst>
              <a:path h="1009380" w="5110786">
                <a:moveTo>
                  <a:pt x="0" y="0"/>
                </a:moveTo>
                <a:lnTo>
                  <a:pt x="5110786" y="0"/>
                </a:lnTo>
                <a:lnTo>
                  <a:pt x="5110786" y="1009380"/>
                </a:lnTo>
                <a:lnTo>
                  <a:pt x="0" y="100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23343" y="7896495"/>
            <a:ext cx="5110786" cy="1009380"/>
          </a:xfrm>
          <a:custGeom>
            <a:avLst/>
            <a:gdLst/>
            <a:ahLst/>
            <a:cxnLst/>
            <a:rect r="r" b="b" t="t" l="l"/>
            <a:pathLst>
              <a:path h="1009380" w="5110786">
                <a:moveTo>
                  <a:pt x="0" y="0"/>
                </a:moveTo>
                <a:lnTo>
                  <a:pt x="5110787" y="0"/>
                </a:lnTo>
                <a:lnTo>
                  <a:pt x="5110787" y="1009380"/>
                </a:lnTo>
                <a:lnTo>
                  <a:pt x="0" y="100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423343" y="4057867"/>
            <a:ext cx="5110786" cy="4502632"/>
            <a:chOff x="0" y="0"/>
            <a:chExt cx="1554321" cy="13693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66652" y="0"/>
                  </a:moveTo>
                  <a:lnTo>
                    <a:pt x="1487668" y="0"/>
                  </a:lnTo>
                  <a:cubicBezTo>
                    <a:pt x="1524479" y="0"/>
                    <a:pt x="1554321" y="29841"/>
                    <a:pt x="1554321" y="66652"/>
                  </a:cubicBezTo>
                  <a:lnTo>
                    <a:pt x="1554321" y="1302713"/>
                  </a:lnTo>
                  <a:cubicBezTo>
                    <a:pt x="1554321" y="1320390"/>
                    <a:pt x="1547298" y="1337344"/>
                    <a:pt x="1534799" y="1349843"/>
                  </a:cubicBezTo>
                  <a:cubicBezTo>
                    <a:pt x="1522299" y="1362343"/>
                    <a:pt x="1505346" y="1369365"/>
                    <a:pt x="1487668" y="1369365"/>
                  </a:cubicBezTo>
                  <a:lnTo>
                    <a:pt x="66652" y="1369365"/>
                  </a:lnTo>
                  <a:cubicBezTo>
                    <a:pt x="29841" y="1369365"/>
                    <a:pt x="0" y="1339524"/>
                    <a:pt x="0" y="1302713"/>
                  </a:cubicBezTo>
                  <a:lnTo>
                    <a:pt x="0" y="66652"/>
                  </a:lnTo>
                  <a:cubicBezTo>
                    <a:pt x="0" y="29841"/>
                    <a:pt x="29841" y="0"/>
                    <a:pt x="6665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554321" cy="1436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3656" y="4057867"/>
            <a:ext cx="5110786" cy="4502632"/>
            <a:chOff x="0" y="0"/>
            <a:chExt cx="1554321" cy="1369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66652" y="0"/>
                  </a:moveTo>
                  <a:lnTo>
                    <a:pt x="1487668" y="0"/>
                  </a:lnTo>
                  <a:cubicBezTo>
                    <a:pt x="1524479" y="0"/>
                    <a:pt x="1554321" y="29841"/>
                    <a:pt x="1554321" y="66652"/>
                  </a:cubicBezTo>
                  <a:lnTo>
                    <a:pt x="1554321" y="1302713"/>
                  </a:lnTo>
                  <a:cubicBezTo>
                    <a:pt x="1554321" y="1320390"/>
                    <a:pt x="1547298" y="1337344"/>
                    <a:pt x="1534799" y="1349843"/>
                  </a:cubicBezTo>
                  <a:cubicBezTo>
                    <a:pt x="1522299" y="1362343"/>
                    <a:pt x="1505346" y="1369365"/>
                    <a:pt x="1487668" y="1369365"/>
                  </a:cubicBezTo>
                  <a:lnTo>
                    <a:pt x="66652" y="1369365"/>
                  </a:lnTo>
                  <a:cubicBezTo>
                    <a:pt x="29841" y="1369365"/>
                    <a:pt x="0" y="1339524"/>
                    <a:pt x="0" y="1302713"/>
                  </a:cubicBezTo>
                  <a:lnTo>
                    <a:pt x="0" y="66652"/>
                  </a:lnTo>
                  <a:cubicBezTo>
                    <a:pt x="0" y="29841"/>
                    <a:pt x="29841" y="0"/>
                    <a:pt x="6665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554321" cy="1436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940890" y="4057867"/>
            <a:ext cx="5110786" cy="4502632"/>
            <a:chOff x="0" y="0"/>
            <a:chExt cx="1554321" cy="13693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66652" y="0"/>
                  </a:moveTo>
                  <a:lnTo>
                    <a:pt x="1487668" y="0"/>
                  </a:lnTo>
                  <a:cubicBezTo>
                    <a:pt x="1524479" y="0"/>
                    <a:pt x="1554321" y="29841"/>
                    <a:pt x="1554321" y="66652"/>
                  </a:cubicBezTo>
                  <a:lnTo>
                    <a:pt x="1554321" y="1302713"/>
                  </a:lnTo>
                  <a:cubicBezTo>
                    <a:pt x="1554321" y="1320390"/>
                    <a:pt x="1547298" y="1337344"/>
                    <a:pt x="1534799" y="1349843"/>
                  </a:cubicBezTo>
                  <a:cubicBezTo>
                    <a:pt x="1522299" y="1362343"/>
                    <a:pt x="1505346" y="1369365"/>
                    <a:pt x="1487668" y="1369365"/>
                  </a:cubicBezTo>
                  <a:lnTo>
                    <a:pt x="66652" y="1369365"/>
                  </a:lnTo>
                  <a:cubicBezTo>
                    <a:pt x="29841" y="1369365"/>
                    <a:pt x="0" y="1339524"/>
                    <a:pt x="0" y="1302713"/>
                  </a:cubicBezTo>
                  <a:lnTo>
                    <a:pt x="0" y="66652"/>
                  </a:lnTo>
                  <a:cubicBezTo>
                    <a:pt x="0" y="29841"/>
                    <a:pt x="29841" y="0"/>
                    <a:pt x="6665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554321" cy="1436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825444" y="8192202"/>
            <a:ext cx="4441321" cy="444132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2074220" y="4188489"/>
            <a:ext cx="4873602" cy="2741367"/>
            <a:chOff x="0" y="0"/>
            <a:chExt cx="1128903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87761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1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3"/>
              <a:stretch>
                <a:fillRect l="0" t="-9319" r="0" b="-9319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7300709" y="4188489"/>
            <a:ext cx="4873602" cy="2741367"/>
            <a:chOff x="0" y="0"/>
            <a:chExt cx="1128903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87761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1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4"/>
              <a:stretch>
                <a:fillRect l="0" t="-9061" r="0" b="-906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662839" y="4188489"/>
            <a:ext cx="4596461" cy="2741367"/>
            <a:chOff x="0" y="0"/>
            <a:chExt cx="6128615" cy="3655156"/>
          </a:xfrm>
        </p:grpSpPr>
        <p:pic>
          <p:nvPicPr>
            <p:cNvPr name="Picture 25" id="25"/>
            <p:cNvPicPr>
              <a:picLocks noChangeAspect="true"/>
            </p:cNvPicPr>
            <p:nvPr/>
          </p:nvPicPr>
          <p:blipFill>
            <a:blip r:embed="rId5"/>
            <a:srcRect l="7016" t="0" r="7016" b="0"/>
            <a:stretch>
              <a:fillRect/>
            </a:stretch>
          </p:blipFill>
          <p:spPr>
            <a:xfrm flipH="false" flipV="false">
              <a:off x="0" y="0"/>
              <a:ext cx="3000807" cy="3655156"/>
            </a:xfrm>
            <a:prstGeom prst="rect">
              <a:avLst/>
            </a:prstGeom>
          </p:spPr>
        </p:pic>
        <p:pic>
          <p:nvPicPr>
            <p:cNvPr name="Picture 26" id="26"/>
            <p:cNvPicPr>
              <a:picLocks noChangeAspect="true"/>
            </p:cNvPicPr>
            <p:nvPr/>
          </p:nvPicPr>
          <p:blipFill>
            <a:blip r:embed="rId6"/>
            <a:srcRect l="22651" t="0" r="22651" b="0"/>
            <a:stretch>
              <a:fillRect/>
            </a:stretch>
          </p:blipFill>
          <p:spPr>
            <a:xfrm flipH="false" flipV="false">
              <a:off x="3127807" y="0"/>
              <a:ext cx="3000807" cy="3655156"/>
            </a:xfrm>
            <a:prstGeom prst="rect">
              <a:avLst/>
            </a:prstGeom>
          </p:spPr>
        </p:pic>
      </p:grpSp>
      <p:sp>
        <p:nvSpPr>
          <p:cNvPr name="TextBox 27" id="27"/>
          <p:cNvSpPr txBox="true"/>
          <p:nvPr/>
        </p:nvSpPr>
        <p:spPr>
          <a:xfrm rot="0">
            <a:off x="6242243" y="485547"/>
            <a:ext cx="7453950" cy="186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51"/>
              </a:lnSpc>
              <a:spcBef>
                <a:spcPct val="0"/>
              </a:spcBef>
            </a:pPr>
            <a:r>
              <a:rPr lang="en-US" b="true" sz="5108">
                <a:solidFill>
                  <a:srgbClr val="FDFDF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System Architecture (Summary)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52349" y="7051325"/>
            <a:ext cx="2517343" cy="46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Input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480378" y="7051325"/>
            <a:ext cx="2517343" cy="46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Processing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20065" y="7051997"/>
            <a:ext cx="2517343" cy="46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Output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45856" y="7661741"/>
            <a:ext cx="4634928" cy="39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6"/>
              </a:lnSpc>
              <a:spcBef>
                <a:spcPct val="0"/>
              </a:spcBef>
            </a:pPr>
            <a:r>
              <a:rPr lang="en-US" sz="2140" spc="-42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CSV student scores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563320" y="2844773"/>
            <a:ext cx="10348379" cy="60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36"/>
              </a:lnSpc>
              <a:spcBef>
                <a:spcPct val="0"/>
              </a:spcBef>
            </a:pPr>
            <a:r>
              <a:rPr lang="en-US" b="true" sz="3240" spc="-64">
                <a:solidFill>
                  <a:srgbClr val="FDFDF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</a:t>
            </a:r>
            <a:r>
              <a:rPr lang="en-US" b="true" sz="3240" spc="-64" strike="noStrike" u="none">
                <a:solidFill>
                  <a:srgbClr val="FDFDF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put → Processing → Output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155085" y="7547379"/>
            <a:ext cx="3167928" cy="76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6"/>
              </a:lnSpc>
              <a:spcBef>
                <a:spcPct val="0"/>
              </a:spcBef>
            </a:pPr>
            <a:r>
              <a:rPr lang="en-US" sz="2140" spc="-42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difficulty,</a:t>
            </a:r>
            <a:r>
              <a:rPr lang="en-US" sz="2140" spc="-42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 progress, clusters, prediction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662839" y="7664540"/>
            <a:ext cx="4634928" cy="39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6"/>
              </a:lnSpc>
              <a:spcBef>
                <a:spcPct val="0"/>
              </a:spcBef>
            </a:pPr>
            <a:r>
              <a:rPr lang="en-US" sz="2140" spc="-42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PDFs, PNGs, </a:t>
            </a:r>
            <a:r>
              <a:rPr lang="en-US" sz="2140" spc="-42" strike="noStrike" u="none">
                <a:solidFill>
                  <a:srgbClr val="051D40"/>
                </a:solidFill>
                <a:latin typeface="Codec Pro"/>
                <a:ea typeface="Codec Pro"/>
                <a:cs typeface="Codec Pro"/>
                <a:sym typeface="Codec Pro"/>
              </a:rPr>
              <a:t>CSVs, Alerts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92273" y="2580174"/>
            <a:ext cx="8819592" cy="192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10"/>
              </a:lnSpc>
              <a:spcBef>
                <a:spcPct val="0"/>
              </a:spcBef>
            </a:pPr>
            <a:r>
              <a:rPr lang="en-US" b="true" sz="10364">
                <a:solidFill>
                  <a:srgbClr val="051D4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THANK 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07961" y="4697586"/>
            <a:ext cx="3747646" cy="55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050"/>
              </a:lnSpc>
              <a:spcBef>
                <a:spcPct val="0"/>
              </a:spcBef>
            </a:pPr>
            <a:r>
              <a:rPr lang="en-US" b="true" sz="2893" spc="-57">
                <a:solidFill>
                  <a:srgbClr val="145DA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Questions?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398912" y="0"/>
            <a:ext cx="5889088" cy="756959"/>
            <a:chOff x="0" y="0"/>
            <a:chExt cx="1551036" cy="1993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1036" cy="199364"/>
            </a:xfrm>
            <a:custGeom>
              <a:avLst/>
              <a:gdLst/>
              <a:ahLst/>
              <a:cxnLst/>
              <a:rect r="r" b="b" t="t" l="l"/>
              <a:pathLst>
                <a:path h="199364" w="1551036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551036" cy="266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98912" y="9530041"/>
            <a:ext cx="5889088" cy="756959"/>
            <a:chOff x="0" y="0"/>
            <a:chExt cx="1551036" cy="1993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1036" cy="199364"/>
            </a:xfrm>
            <a:custGeom>
              <a:avLst/>
              <a:gdLst/>
              <a:ahLst/>
              <a:cxnLst/>
              <a:rect r="r" b="b" t="t" l="l"/>
              <a:pathLst>
                <a:path h="199364" w="1551036">
                  <a:moveTo>
                    <a:pt x="0" y="0"/>
                  </a:moveTo>
                  <a:lnTo>
                    <a:pt x="1551036" y="0"/>
                  </a:lnTo>
                  <a:lnTo>
                    <a:pt x="1551036" y="199364"/>
                  </a:lnTo>
                  <a:lnTo>
                    <a:pt x="0" y="199364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551036" cy="266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4925441" y="3609788"/>
            <a:ext cx="9392643" cy="9529477"/>
          </a:xfrm>
          <a:custGeom>
            <a:avLst/>
            <a:gdLst/>
            <a:ahLst/>
            <a:cxnLst/>
            <a:rect r="r" b="b" t="t" l="l"/>
            <a:pathLst>
              <a:path h="9529477" w="9392643">
                <a:moveTo>
                  <a:pt x="0" y="0"/>
                </a:moveTo>
                <a:lnTo>
                  <a:pt x="9392643" y="0"/>
                </a:lnTo>
                <a:lnTo>
                  <a:pt x="9392643" y="9529476"/>
                </a:lnTo>
                <a:lnTo>
                  <a:pt x="0" y="9529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398912" y="1028700"/>
            <a:ext cx="5889088" cy="8229600"/>
          </a:xfrm>
          <a:custGeom>
            <a:avLst/>
            <a:gdLst/>
            <a:ahLst/>
            <a:cxnLst/>
            <a:rect r="r" b="b" t="t" l="l"/>
            <a:pathLst>
              <a:path h="8229600" w="5889088">
                <a:moveTo>
                  <a:pt x="0" y="0"/>
                </a:moveTo>
                <a:lnTo>
                  <a:pt x="5889088" y="0"/>
                </a:lnTo>
                <a:lnTo>
                  <a:pt x="58890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703" r="0" b="-370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07961" y="5441262"/>
            <a:ext cx="7638834" cy="1066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050"/>
              </a:lnSpc>
              <a:spcBef>
                <a:spcPct val="0"/>
              </a:spcBef>
            </a:pPr>
            <a:r>
              <a:rPr lang="en-US" b="true" sz="2893" spc="-57">
                <a:solidFill>
                  <a:srgbClr val="145DA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Let’s improve learning outcomes with Data Science!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DAG6gzSiQsw</dc:identifier>
  <dcterms:modified xsi:type="dcterms:W3CDTF">2011-08-01T06:04:30Z</dcterms:modified>
  <cp:revision>1</cp:revision>
  <dc:title>STUDENT PERFORMANCE ANALYSIS PIPELINE</dc:title>
</cp:coreProperties>
</file>